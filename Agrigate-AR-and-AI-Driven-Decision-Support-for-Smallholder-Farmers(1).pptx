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4630400" cy="8229600"/>
  <p:notesSz cx="8229600" cy="14630400"/>
  <p:embeddedFontLst>
    <p:embeddedFont>
      <p:font typeface="Cabin" panose="020B0604020202020204" charset="0"/>
      <p:regular r:id="rId21"/>
    </p:embeddedFont>
    <p:embeddedFont>
      <p:font typeface="Unbounde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28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1137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ggerio/Agrigate_App" TargetMode="External"/><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hyperlink" Target="https://drive.google.com/file/d/1eNuhgSenOGuOekjBdZ35rhQoMlpHg7Id/view?usp=sharing" TargetMode="External"/><Relationship Id="rId4" Type="http://schemas.openxmlformats.org/officeDocument/2006/relationships/hyperlink" Target="https://drive.google.com/file/d/1hN_OOvydTjxzEwXqXJWj9-0rRlXFcIhT/view?usp=sharing"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alpha val="80000"/>
            </a:srgbClr>
          </a:solidFill>
          <a:ln/>
        </p:spPr>
      </p:sp>
      <p:sp>
        <p:nvSpPr>
          <p:cNvPr id="4" name="Text 1"/>
          <p:cNvSpPr/>
          <p:nvPr/>
        </p:nvSpPr>
        <p:spPr>
          <a:xfrm>
            <a:off x="837724" y="2710220"/>
            <a:ext cx="12954952"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Agrigate: AR &amp; AI-Driven Decision Support for Smallholder Farmers</a:t>
            </a:r>
            <a:endParaRPr lang="en-US" sz="4400" dirty="0"/>
          </a:p>
        </p:txBody>
      </p:sp>
      <p:sp>
        <p:nvSpPr>
          <p:cNvPr id="5" name="Text 2"/>
          <p:cNvSpPr/>
          <p:nvPr/>
        </p:nvSpPr>
        <p:spPr>
          <a:xfrm>
            <a:off x="837724" y="4213979"/>
            <a:ext cx="4505920" cy="563285"/>
          </a:xfrm>
          <a:prstGeom prst="rect">
            <a:avLst/>
          </a:prstGeom>
          <a:noFill/>
          <a:ln/>
        </p:spPr>
        <p:txBody>
          <a:bodyPr wrap="none" lIns="0" tIns="0" rIns="0" bIns="0" rtlCol="0" anchor="t"/>
          <a:lstStyle/>
          <a:p>
            <a:pPr marL="0" indent="0" algn="l">
              <a:lnSpc>
                <a:spcPts val="4400"/>
              </a:lnSpc>
              <a:buNone/>
            </a:pPr>
            <a:r>
              <a:rPr lang="en-US" sz="3500" dirty="0">
                <a:solidFill>
                  <a:srgbClr val="FFFFFF"/>
                </a:solidFill>
                <a:latin typeface="Unbounded" pitchFamily="34" charset="0"/>
                <a:ea typeface="Unbounded" pitchFamily="34" charset="-122"/>
                <a:cs typeface="Unbounded" pitchFamily="34" charset="-120"/>
              </a:rPr>
              <a:t>Team Ghost</a:t>
            </a:r>
            <a:endParaRPr lang="en-US" sz="3500" dirty="0"/>
          </a:p>
        </p:txBody>
      </p:sp>
      <p:sp>
        <p:nvSpPr>
          <p:cNvPr id="6" name="Text 3"/>
          <p:cNvSpPr/>
          <p:nvPr/>
        </p:nvSpPr>
        <p:spPr>
          <a:xfrm>
            <a:off x="837724" y="5136237"/>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Aditya Kumar Panigrahy, 05/11/25</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741878"/>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Outline</a:t>
            </a:r>
            <a:endParaRPr lang="en-US" sz="4400" dirty="0"/>
          </a:p>
        </p:txBody>
      </p:sp>
      <p:sp>
        <p:nvSpPr>
          <p:cNvPr id="3" name="Text 1"/>
          <p:cNvSpPr/>
          <p:nvPr/>
        </p:nvSpPr>
        <p:spPr>
          <a:xfrm>
            <a:off x="837724" y="1924645"/>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Unbounded Light" pitchFamily="34" charset="0"/>
                <a:ea typeface="Unbounded Light" pitchFamily="34" charset="-122"/>
                <a:cs typeface="Unbounded Light" pitchFamily="34" charset="-120"/>
              </a:rPr>
              <a:t>01</a:t>
            </a:r>
            <a:endParaRPr lang="en-US" sz="1850" dirty="0"/>
          </a:p>
        </p:txBody>
      </p:sp>
      <p:sp>
        <p:nvSpPr>
          <p:cNvPr id="4" name="Shape 2"/>
          <p:cNvSpPr/>
          <p:nvPr/>
        </p:nvSpPr>
        <p:spPr>
          <a:xfrm>
            <a:off x="837724" y="2301002"/>
            <a:ext cx="4158734" cy="30480"/>
          </a:xfrm>
          <a:prstGeom prst="rect">
            <a:avLst/>
          </a:prstGeom>
          <a:solidFill>
            <a:srgbClr val="0A988B"/>
          </a:solidFill>
          <a:ln/>
        </p:spPr>
      </p:sp>
      <p:sp>
        <p:nvSpPr>
          <p:cNvPr id="5" name="Text 3"/>
          <p:cNvSpPr/>
          <p:nvPr/>
        </p:nvSpPr>
        <p:spPr>
          <a:xfrm>
            <a:off x="837724" y="2481620"/>
            <a:ext cx="4158734" cy="703898"/>
          </a:xfrm>
          <a:prstGeom prst="rect">
            <a:avLst/>
          </a:prstGeom>
          <a:noFill/>
          <a:ln/>
        </p:spPr>
        <p:txBody>
          <a:bodyPr wrap="squar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Software Requirements Specification (SRS)</a:t>
            </a:r>
            <a:endParaRPr lang="en-US" sz="2200" dirty="0"/>
          </a:p>
        </p:txBody>
      </p:sp>
      <p:sp>
        <p:nvSpPr>
          <p:cNvPr id="6" name="Text 4"/>
          <p:cNvSpPr/>
          <p:nvPr/>
        </p:nvSpPr>
        <p:spPr>
          <a:xfrm>
            <a:off x="5235773" y="1924645"/>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Unbounded Light" pitchFamily="34" charset="0"/>
                <a:ea typeface="Unbounded Light" pitchFamily="34" charset="-122"/>
                <a:cs typeface="Unbounded Light" pitchFamily="34" charset="-120"/>
              </a:rPr>
              <a:t>02</a:t>
            </a:r>
            <a:endParaRPr lang="en-US" sz="1850" dirty="0"/>
          </a:p>
        </p:txBody>
      </p:sp>
      <p:sp>
        <p:nvSpPr>
          <p:cNvPr id="7" name="Shape 5"/>
          <p:cNvSpPr/>
          <p:nvPr/>
        </p:nvSpPr>
        <p:spPr>
          <a:xfrm>
            <a:off x="5235773" y="2301002"/>
            <a:ext cx="4158734" cy="30480"/>
          </a:xfrm>
          <a:prstGeom prst="rect">
            <a:avLst/>
          </a:prstGeom>
          <a:solidFill>
            <a:srgbClr val="0A988B"/>
          </a:solidFill>
          <a:ln/>
        </p:spPr>
      </p:sp>
      <p:sp>
        <p:nvSpPr>
          <p:cNvPr id="8" name="Text 6"/>
          <p:cNvSpPr/>
          <p:nvPr/>
        </p:nvSpPr>
        <p:spPr>
          <a:xfrm>
            <a:off x="5235773" y="2481620"/>
            <a:ext cx="4158734" cy="703898"/>
          </a:xfrm>
          <a:prstGeom prst="rect">
            <a:avLst/>
          </a:prstGeom>
          <a:noFill/>
          <a:ln/>
        </p:spPr>
        <p:txBody>
          <a:bodyPr wrap="squar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Software Design Specification (SDS)</a:t>
            </a:r>
            <a:endParaRPr lang="en-US" sz="2200" dirty="0"/>
          </a:p>
        </p:txBody>
      </p:sp>
      <p:sp>
        <p:nvSpPr>
          <p:cNvPr id="9" name="Text 7"/>
          <p:cNvSpPr/>
          <p:nvPr/>
        </p:nvSpPr>
        <p:spPr>
          <a:xfrm>
            <a:off x="9633823" y="1924645"/>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Unbounded Light" pitchFamily="34" charset="0"/>
                <a:ea typeface="Unbounded Light" pitchFamily="34" charset="-122"/>
                <a:cs typeface="Unbounded Light" pitchFamily="34" charset="-120"/>
              </a:rPr>
              <a:t>03</a:t>
            </a:r>
            <a:endParaRPr lang="en-US" sz="1850" dirty="0"/>
          </a:p>
        </p:txBody>
      </p:sp>
      <p:sp>
        <p:nvSpPr>
          <p:cNvPr id="10" name="Shape 8"/>
          <p:cNvSpPr/>
          <p:nvPr/>
        </p:nvSpPr>
        <p:spPr>
          <a:xfrm>
            <a:off x="9633823" y="2301002"/>
            <a:ext cx="4158853" cy="30480"/>
          </a:xfrm>
          <a:prstGeom prst="rect">
            <a:avLst/>
          </a:prstGeom>
          <a:solidFill>
            <a:srgbClr val="0A988B"/>
          </a:solidFill>
          <a:ln/>
        </p:spPr>
      </p:sp>
      <p:sp>
        <p:nvSpPr>
          <p:cNvPr id="11" name="Text 9"/>
          <p:cNvSpPr/>
          <p:nvPr/>
        </p:nvSpPr>
        <p:spPr>
          <a:xfrm>
            <a:off x="9633823" y="2481620"/>
            <a:ext cx="293179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System Overview</a:t>
            </a:r>
            <a:endParaRPr lang="en-US" sz="2200" dirty="0"/>
          </a:p>
        </p:txBody>
      </p:sp>
      <p:sp>
        <p:nvSpPr>
          <p:cNvPr id="13" name="Text 11"/>
          <p:cNvSpPr/>
          <p:nvPr/>
        </p:nvSpPr>
        <p:spPr>
          <a:xfrm>
            <a:off x="837724" y="4544973"/>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Unbounded Light" pitchFamily="34" charset="0"/>
                <a:ea typeface="Unbounded Light" pitchFamily="34" charset="-122"/>
                <a:cs typeface="Unbounded Light" pitchFamily="34" charset="-120"/>
              </a:rPr>
              <a:t>04</a:t>
            </a:r>
            <a:endParaRPr lang="en-US" sz="1850" dirty="0"/>
          </a:p>
        </p:txBody>
      </p:sp>
      <p:sp>
        <p:nvSpPr>
          <p:cNvPr id="14" name="Shape 12"/>
          <p:cNvSpPr/>
          <p:nvPr/>
        </p:nvSpPr>
        <p:spPr>
          <a:xfrm>
            <a:off x="837724" y="4921329"/>
            <a:ext cx="4158734" cy="30480"/>
          </a:xfrm>
          <a:prstGeom prst="rect">
            <a:avLst/>
          </a:prstGeom>
          <a:solidFill>
            <a:srgbClr val="0A988B"/>
          </a:solidFill>
          <a:ln/>
        </p:spPr>
      </p:sp>
      <p:sp>
        <p:nvSpPr>
          <p:cNvPr id="15" name="Text 13"/>
          <p:cNvSpPr/>
          <p:nvPr/>
        </p:nvSpPr>
        <p:spPr>
          <a:xfrm>
            <a:off x="837724" y="5101947"/>
            <a:ext cx="4158734" cy="703898"/>
          </a:xfrm>
          <a:prstGeom prst="rect">
            <a:avLst/>
          </a:prstGeom>
          <a:noFill/>
          <a:ln/>
        </p:spPr>
        <p:txBody>
          <a:bodyPr wrap="squar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Implementation &amp; Demo (Video)</a:t>
            </a:r>
            <a:endParaRPr lang="en-US" sz="2200" dirty="0"/>
          </a:p>
        </p:txBody>
      </p:sp>
      <p:sp>
        <p:nvSpPr>
          <p:cNvPr id="16" name="Text 14"/>
          <p:cNvSpPr/>
          <p:nvPr/>
        </p:nvSpPr>
        <p:spPr>
          <a:xfrm>
            <a:off x="5235773" y="4544973"/>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Unbounded Light" pitchFamily="34" charset="0"/>
                <a:ea typeface="Unbounded Light" pitchFamily="34" charset="-122"/>
                <a:cs typeface="Unbounded Light" pitchFamily="34" charset="-120"/>
              </a:rPr>
              <a:t>05</a:t>
            </a:r>
            <a:endParaRPr lang="en-US" sz="1850" dirty="0"/>
          </a:p>
        </p:txBody>
      </p:sp>
      <p:sp>
        <p:nvSpPr>
          <p:cNvPr id="17" name="Shape 15"/>
          <p:cNvSpPr/>
          <p:nvPr/>
        </p:nvSpPr>
        <p:spPr>
          <a:xfrm>
            <a:off x="5235773" y="4921329"/>
            <a:ext cx="4158734" cy="30480"/>
          </a:xfrm>
          <a:prstGeom prst="rect">
            <a:avLst/>
          </a:prstGeom>
          <a:solidFill>
            <a:srgbClr val="0A988B"/>
          </a:solidFill>
          <a:ln/>
        </p:spPr>
      </p:sp>
      <p:sp>
        <p:nvSpPr>
          <p:cNvPr id="18" name="Text 16"/>
          <p:cNvSpPr/>
          <p:nvPr/>
        </p:nvSpPr>
        <p:spPr>
          <a:xfrm>
            <a:off x="5235773" y="510194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Testing</a:t>
            </a:r>
            <a:endParaRPr lang="en-US" sz="2200" dirty="0"/>
          </a:p>
        </p:txBody>
      </p:sp>
      <p:sp>
        <p:nvSpPr>
          <p:cNvPr id="19" name="Text 17"/>
          <p:cNvSpPr/>
          <p:nvPr/>
        </p:nvSpPr>
        <p:spPr>
          <a:xfrm>
            <a:off x="5235773" y="5597485"/>
            <a:ext cx="4158734" cy="38302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Manual Reports</a:t>
            </a:r>
            <a:endParaRPr lang="en-US" sz="1850" dirty="0"/>
          </a:p>
        </p:txBody>
      </p:sp>
      <p:sp>
        <p:nvSpPr>
          <p:cNvPr id="20" name="Text 18"/>
          <p:cNvSpPr/>
          <p:nvPr/>
        </p:nvSpPr>
        <p:spPr>
          <a:xfrm>
            <a:off x="9633823" y="4544973"/>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Unbounded Light" pitchFamily="34" charset="0"/>
                <a:ea typeface="Unbounded Light" pitchFamily="34" charset="-122"/>
                <a:cs typeface="Unbounded Light" pitchFamily="34" charset="-120"/>
              </a:rPr>
              <a:t>06</a:t>
            </a:r>
            <a:endParaRPr lang="en-US" sz="1850" dirty="0"/>
          </a:p>
        </p:txBody>
      </p:sp>
      <p:sp>
        <p:nvSpPr>
          <p:cNvPr id="21" name="Shape 19"/>
          <p:cNvSpPr/>
          <p:nvPr/>
        </p:nvSpPr>
        <p:spPr>
          <a:xfrm>
            <a:off x="9633823" y="4921329"/>
            <a:ext cx="4158853" cy="30480"/>
          </a:xfrm>
          <a:prstGeom prst="rect">
            <a:avLst/>
          </a:prstGeom>
          <a:solidFill>
            <a:srgbClr val="0A988B"/>
          </a:solidFill>
          <a:ln/>
        </p:spPr>
      </p:sp>
      <p:sp>
        <p:nvSpPr>
          <p:cNvPr id="22" name="Text 20"/>
          <p:cNvSpPr/>
          <p:nvPr/>
        </p:nvSpPr>
        <p:spPr>
          <a:xfrm>
            <a:off x="9633823" y="5101947"/>
            <a:ext cx="4072533"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CASE Tool</a:t>
            </a:r>
            <a:endParaRPr lang="en-US" sz="2200" dirty="0"/>
          </a:p>
        </p:txBody>
      </p:sp>
      <p:sp>
        <p:nvSpPr>
          <p:cNvPr id="23" name="Text 21"/>
          <p:cNvSpPr/>
          <p:nvPr/>
        </p:nvSpPr>
        <p:spPr>
          <a:xfrm>
            <a:off x="837724" y="6399252"/>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Unbounded Light" pitchFamily="34" charset="0"/>
                <a:ea typeface="Unbounded Light" pitchFamily="34" charset="-122"/>
                <a:cs typeface="Unbounded Light" pitchFamily="34" charset="-120"/>
              </a:rPr>
              <a:t>07</a:t>
            </a:r>
            <a:endParaRPr lang="en-US" sz="1850" dirty="0"/>
          </a:p>
        </p:txBody>
      </p:sp>
      <p:sp>
        <p:nvSpPr>
          <p:cNvPr id="24" name="Shape 22"/>
          <p:cNvSpPr/>
          <p:nvPr/>
        </p:nvSpPr>
        <p:spPr>
          <a:xfrm>
            <a:off x="837724" y="6775609"/>
            <a:ext cx="4158734" cy="30480"/>
          </a:xfrm>
          <a:prstGeom prst="rect">
            <a:avLst/>
          </a:prstGeom>
          <a:solidFill>
            <a:srgbClr val="0A988B"/>
          </a:solidFill>
          <a:ln/>
        </p:spPr>
      </p:sp>
      <p:sp>
        <p:nvSpPr>
          <p:cNvPr id="25" name="Text 23"/>
          <p:cNvSpPr/>
          <p:nvPr/>
        </p:nvSpPr>
        <p:spPr>
          <a:xfrm>
            <a:off x="837724" y="695622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Glossary</a:t>
            </a:r>
            <a:endParaRPr lang="en-US" sz="2200" dirty="0"/>
          </a:p>
        </p:txBody>
      </p:sp>
      <p:sp>
        <p:nvSpPr>
          <p:cNvPr id="26" name="Text 24"/>
          <p:cNvSpPr/>
          <p:nvPr/>
        </p:nvSpPr>
        <p:spPr>
          <a:xfrm>
            <a:off x="5235773" y="6399252"/>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Unbounded Light" pitchFamily="34" charset="0"/>
                <a:ea typeface="Unbounded Light" pitchFamily="34" charset="-122"/>
                <a:cs typeface="Unbounded Light" pitchFamily="34" charset="-120"/>
              </a:rPr>
              <a:t>08</a:t>
            </a:r>
            <a:endParaRPr lang="en-US" sz="1850" dirty="0"/>
          </a:p>
        </p:txBody>
      </p:sp>
      <p:sp>
        <p:nvSpPr>
          <p:cNvPr id="27" name="Shape 25"/>
          <p:cNvSpPr/>
          <p:nvPr/>
        </p:nvSpPr>
        <p:spPr>
          <a:xfrm>
            <a:off x="5235773" y="6775609"/>
            <a:ext cx="4158734" cy="30480"/>
          </a:xfrm>
          <a:prstGeom prst="rect">
            <a:avLst/>
          </a:prstGeom>
          <a:solidFill>
            <a:srgbClr val="0A988B"/>
          </a:solidFill>
          <a:ln/>
        </p:spPr>
      </p:sp>
      <p:sp>
        <p:nvSpPr>
          <p:cNvPr id="28" name="Text 26"/>
          <p:cNvSpPr/>
          <p:nvPr/>
        </p:nvSpPr>
        <p:spPr>
          <a:xfrm>
            <a:off x="5235773" y="695622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Conclusions</a:t>
            </a:r>
            <a:endParaRPr lang="en-US" sz="2200" dirty="0"/>
          </a:p>
        </p:txBody>
      </p:sp>
      <p:sp>
        <p:nvSpPr>
          <p:cNvPr id="29" name="Text 27"/>
          <p:cNvSpPr/>
          <p:nvPr/>
        </p:nvSpPr>
        <p:spPr>
          <a:xfrm>
            <a:off x="9633823" y="6399252"/>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Unbounded Light" pitchFamily="34" charset="0"/>
                <a:ea typeface="Unbounded Light" pitchFamily="34" charset="-122"/>
                <a:cs typeface="Unbounded Light" pitchFamily="34" charset="-120"/>
              </a:rPr>
              <a:t>09</a:t>
            </a:r>
            <a:endParaRPr lang="en-US" sz="1850" dirty="0"/>
          </a:p>
        </p:txBody>
      </p:sp>
      <p:sp>
        <p:nvSpPr>
          <p:cNvPr id="30" name="Shape 28"/>
          <p:cNvSpPr/>
          <p:nvPr/>
        </p:nvSpPr>
        <p:spPr>
          <a:xfrm>
            <a:off x="9633823" y="6775609"/>
            <a:ext cx="4158853" cy="30480"/>
          </a:xfrm>
          <a:prstGeom prst="rect">
            <a:avLst/>
          </a:prstGeom>
          <a:solidFill>
            <a:srgbClr val="0A988B"/>
          </a:solidFill>
          <a:ln/>
        </p:spPr>
      </p:sp>
      <p:sp>
        <p:nvSpPr>
          <p:cNvPr id="31" name="Text 29"/>
          <p:cNvSpPr/>
          <p:nvPr/>
        </p:nvSpPr>
        <p:spPr>
          <a:xfrm>
            <a:off x="9633823" y="695622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References</a:t>
            </a:r>
            <a:endParaRPr lang="en-US" sz="2200" dirty="0"/>
          </a:p>
        </p:txBody>
      </p:sp>
      <p:sp>
        <p:nvSpPr>
          <p:cNvPr id="12" name="Rectangle 11">
            <a:extLst>
              <a:ext uri="{FF2B5EF4-FFF2-40B4-BE49-F238E27FC236}">
                <a16:creationId xmlns:a16="http://schemas.microsoft.com/office/drawing/2014/main" id="{CE5DEED6-FE2D-33EF-87D0-B623A746EA72}"/>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8862" y="329089"/>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SRS</a:t>
            </a:r>
            <a:endParaRPr lang="en-US" sz="2200" dirty="0"/>
          </a:p>
        </p:txBody>
      </p:sp>
      <p:sp>
        <p:nvSpPr>
          <p:cNvPr id="3" name="Text 1"/>
          <p:cNvSpPr/>
          <p:nvPr/>
        </p:nvSpPr>
        <p:spPr>
          <a:xfrm>
            <a:off x="418862" y="920353"/>
            <a:ext cx="13792676" cy="574358"/>
          </a:xfrm>
          <a:prstGeom prst="rect">
            <a:avLst/>
          </a:prstGeom>
          <a:noFill/>
          <a:ln/>
        </p:spPr>
        <p:txBody>
          <a:bodyPr wrap="square" lIns="0" tIns="0" rIns="0" bIns="0" rtlCol="0" anchor="t"/>
          <a:lstStyle/>
          <a:p>
            <a:pPr marL="0" indent="0" algn="l">
              <a:lnSpc>
                <a:spcPts val="1500"/>
              </a:lnSpc>
              <a:buNone/>
            </a:pPr>
            <a:r>
              <a:rPr lang="en-US" sz="1400" b="1" dirty="0">
                <a:solidFill>
                  <a:srgbClr val="CAD6DE"/>
                </a:solidFill>
                <a:latin typeface="Cabin" pitchFamily="34" charset="0"/>
                <a:ea typeface="Cabin" pitchFamily="34" charset="-122"/>
                <a:cs typeface="Cabin" pitchFamily="34" charset="-120"/>
              </a:rPr>
              <a:t>Agrigate</a:t>
            </a:r>
            <a:r>
              <a:rPr lang="en-US" sz="1400" dirty="0">
                <a:solidFill>
                  <a:srgbClr val="CAD6DE"/>
                </a:solidFill>
                <a:latin typeface="Cabin" pitchFamily="34" charset="0"/>
                <a:ea typeface="Cabin" pitchFamily="34" charset="-122"/>
                <a:cs typeface="Cabin" pitchFamily="34" charset="-120"/>
              </a:rPr>
              <a:t> is a mobile first decision support application for farmers and field agents that combines on device AR visualization with AI and ML services delivered by a lightweight Flask backend. The app lets users scan plants in AR to capture images and receive disease classifications, view crop recommendations based on soil and environmental parameters, monitor live or simulated IoT sensor readings such as NPK and humidity, browse a plant and animal directory, and check market listings and agricultural news while consolidating essential field workflows into a single interface. The primary objective is to reduce time to diagnosis and improve the quality of crop decisions while remaining usable in low connectivity contexts.</a:t>
            </a:r>
            <a:endParaRPr lang="en-US" sz="1400" dirty="0"/>
          </a:p>
        </p:txBody>
      </p:sp>
      <p:pic>
        <p:nvPicPr>
          <p:cNvPr id="4" name="Image 0" descr="preencoded.png"/>
          <p:cNvPicPr>
            <a:picLocks noChangeAspect="1"/>
          </p:cNvPicPr>
          <p:nvPr/>
        </p:nvPicPr>
        <p:blipFill>
          <a:blip r:embed="rId3"/>
          <a:stretch>
            <a:fillRect/>
          </a:stretch>
        </p:blipFill>
        <p:spPr>
          <a:xfrm>
            <a:off x="3021981" y="1962816"/>
            <a:ext cx="8176840" cy="4460086"/>
          </a:xfrm>
          <a:prstGeom prst="rect">
            <a:avLst/>
          </a:prstGeom>
        </p:spPr>
      </p:pic>
      <p:sp>
        <p:nvSpPr>
          <p:cNvPr id="5" name="Text 2"/>
          <p:cNvSpPr/>
          <p:nvPr/>
        </p:nvSpPr>
        <p:spPr>
          <a:xfrm>
            <a:off x="418862" y="6734889"/>
            <a:ext cx="13792676" cy="574358"/>
          </a:xfrm>
          <a:prstGeom prst="rect">
            <a:avLst/>
          </a:prstGeom>
          <a:noFill/>
          <a:ln/>
        </p:spPr>
        <p:txBody>
          <a:bodyPr wrap="square" lIns="0" tIns="0" rIns="0" bIns="0" rtlCol="0" anchor="t"/>
          <a:lstStyle/>
          <a:p>
            <a:pPr marL="0" indent="0" algn="l">
              <a:lnSpc>
                <a:spcPts val="1500"/>
              </a:lnSpc>
              <a:buNone/>
            </a:pPr>
            <a:r>
              <a:rPr lang="en-US" sz="1400" dirty="0">
                <a:solidFill>
                  <a:srgbClr val="CAD6DE"/>
                </a:solidFill>
                <a:latin typeface="Cabin" pitchFamily="34" charset="0"/>
                <a:ea typeface="Cabin" pitchFamily="34" charset="-122"/>
                <a:cs typeface="Cabin" pitchFamily="34" charset="-120"/>
              </a:rPr>
              <a:t>In scope for this release are AR assisted plant disease detection with image capture and server-side inference, crop recommendation through parameter input and ranked results, a live sensor dashboard that polls a sensor endpoint, and curated content modules that include market listings, news, and searchable directories. Key benefits include </a:t>
            </a:r>
            <a:r>
              <a:rPr lang="en-US" sz="1400" b="1" dirty="0">
                <a:solidFill>
                  <a:srgbClr val="0A988B"/>
                </a:solidFill>
                <a:latin typeface="Cabin" pitchFamily="34" charset="0"/>
                <a:ea typeface="Cabin" pitchFamily="34" charset="-122"/>
                <a:cs typeface="Cabin" pitchFamily="34" charset="-120"/>
              </a:rPr>
              <a:t>faster and more confident field decisions</a:t>
            </a:r>
            <a:r>
              <a:rPr lang="en-US" sz="1400" dirty="0">
                <a:solidFill>
                  <a:srgbClr val="CAD6DE"/>
                </a:solidFill>
                <a:latin typeface="Cabin" pitchFamily="34" charset="0"/>
                <a:ea typeface="Cabin" pitchFamily="34" charset="-122"/>
                <a:cs typeface="Cabin" pitchFamily="34" charset="-120"/>
              </a:rPr>
              <a:t>, improved yield outcomes through timely guidance, reduced dependence on fragmented tools, and a clearer feedback loop between observed field conditions and recommended actions. The goals are to deliver a reliable and easy to use mobile experience with responsive AR interactions and predictable backend performance that can be validated against measurable acceptance criteria in later sections of the SRS.</a:t>
            </a:r>
            <a:endParaRPr lang="en-US" sz="1400" dirty="0"/>
          </a:p>
        </p:txBody>
      </p:sp>
      <p:sp>
        <p:nvSpPr>
          <p:cNvPr id="6" name="Rectangle 5">
            <a:extLst>
              <a:ext uri="{FF2B5EF4-FFF2-40B4-BE49-F238E27FC236}">
                <a16:creationId xmlns:a16="http://schemas.microsoft.com/office/drawing/2014/main" id="{127E2797-9D51-7547-649C-0AF5D88C4466}"/>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47593" y="757357"/>
            <a:ext cx="7486174" cy="628293"/>
          </a:xfrm>
          <a:prstGeom prst="rect">
            <a:avLst/>
          </a:prstGeom>
          <a:noFill/>
          <a:ln/>
        </p:spPr>
        <p:txBody>
          <a:bodyPr wrap="none" lIns="0" tIns="0" rIns="0" bIns="0" rtlCol="0" anchor="t"/>
          <a:lstStyle/>
          <a:p>
            <a:pPr marL="0" indent="0" algn="l">
              <a:lnSpc>
                <a:spcPts val="4900"/>
              </a:lnSpc>
              <a:buNone/>
            </a:pPr>
            <a:r>
              <a:rPr lang="en-US" sz="3950" dirty="0">
                <a:solidFill>
                  <a:srgbClr val="FFFFFF"/>
                </a:solidFill>
                <a:latin typeface="Unbounded" pitchFamily="34" charset="0"/>
                <a:ea typeface="Unbounded" pitchFamily="34" charset="-122"/>
                <a:cs typeface="Unbounded" pitchFamily="34" charset="-120"/>
              </a:rPr>
              <a:t>Functional Requirements</a:t>
            </a:r>
            <a:endParaRPr lang="en-US" sz="3950" dirty="0"/>
          </a:p>
        </p:txBody>
      </p:sp>
      <p:sp>
        <p:nvSpPr>
          <p:cNvPr id="3" name="Shape 1"/>
          <p:cNvSpPr/>
          <p:nvPr/>
        </p:nvSpPr>
        <p:spPr>
          <a:xfrm>
            <a:off x="747593" y="2133243"/>
            <a:ext cx="4236006" cy="2901196"/>
          </a:xfrm>
          <a:prstGeom prst="roundRect">
            <a:avLst>
              <a:gd name="adj" fmla="val 5043"/>
            </a:avLst>
          </a:prstGeom>
          <a:solidFill>
            <a:srgbClr val="112836"/>
          </a:solidFill>
          <a:ln/>
        </p:spPr>
      </p:sp>
      <p:sp>
        <p:nvSpPr>
          <p:cNvPr id="4" name="Shape 2"/>
          <p:cNvSpPr/>
          <p:nvPr/>
        </p:nvSpPr>
        <p:spPr>
          <a:xfrm>
            <a:off x="747593" y="2102763"/>
            <a:ext cx="4236006" cy="121920"/>
          </a:xfrm>
          <a:prstGeom prst="roundRect">
            <a:avLst>
              <a:gd name="adj" fmla="val 26282"/>
            </a:avLst>
          </a:prstGeom>
          <a:solidFill>
            <a:srgbClr val="0A988B"/>
          </a:solidFill>
          <a:ln/>
        </p:spPr>
      </p:sp>
      <p:sp>
        <p:nvSpPr>
          <p:cNvPr id="5" name="Shape 3"/>
          <p:cNvSpPr/>
          <p:nvPr/>
        </p:nvSpPr>
        <p:spPr>
          <a:xfrm>
            <a:off x="2545199" y="1812846"/>
            <a:ext cx="640794" cy="640794"/>
          </a:xfrm>
          <a:prstGeom prst="roundRect">
            <a:avLst>
              <a:gd name="adj" fmla="val 142698"/>
            </a:avLst>
          </a:prstGeom>
          <a:solidFill>
            <a:srgbClr val="0A988B"/>
          </a:solidFill>
          <a:ln/>
        </p:spPr>
      </p:sp>
      <p:sp>
        <p:nvSpPr>
          <p:cNvPr id="6" name="Text 4"/>
          <p:cNvSpPr/>
          <p:nvPr/>
        </p:nvSpPr>
        <p:spPr>
          <a:xfrm>
            <a:off x="2737485" y="1972985"/>
            <a:ext cx="256223" cy="320397"/>
          </a:xfrm>
          <a:prstGeom prst="rect">
            <a:avLst/>
          </a:prstGeom>
          <a:noFill/>
          <a:ln/>
        </p:spPr>
        <p:txBody>
          <a:bodyPr wrap="none" lIns="0" tIns="0" rIns="0" bIns="0" rtlCol="0" anchor="t"/>
          <a:lstStyle/>
          <a:p>
            <a:pPr marL="0" indent="0" algn="l">
              <a:lnSpc>
                <a:spcPts val="3200"/>
              </a:lnSpc>
              <a:buNone/>
            </a:pPr>
            <a:r>
              <a:rPr lang="en-US" sz="2000" dirty="0">
                <a:solidFill>
                  <a:srgbClr val="FFFFFF"/>
                </a:solidFill>
                <a:latin typeface="Unbounded" pitchFamily="34" charset="0"/>
                <a:ea typeface="Unbounded" pitchFamily="34" charset="-122"/>
                <a:cs typeface="Unbounded" pitchFamily="34" charset="-120"/>
              </a:rPr>
              <a:t>1</a:t>
            </a:r>
            <a:endParaRPr lang="en-US" sz="2000" dirty="0"/>
          </a:p>
        </p:txBody>
      </p:sp>
      <p:sp>
        <p:nvSpPr>
          <p:cNvPr id="7" name="Text 5"/>
          <p:cNvSpPr/>
          <p:nvPr/>
        </p:nvSpPr>
        <p:spPr>
          <a:xfrm>
            <a:off x="991672" y="2667238"/>
            <a:ext cx="3747849" cy="628174"/>
          </a:xfrm>
          <a:prstGeom prst="rect">
            <a:avLst/>
          </a:prstGeom>
          <a:noFill/>
          <a:ln/>
        </p:spPr>
        <p:txBody>
          <a:bodyPr wrap="squar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AR Plant Disease Detection</a:t>
            </a:r>
            <a:endParaRPr lang="en-US" sz="1950" dirty="0"/>
          </a:p>
        </p:txBody>
      </p:sp>
      <p:sp>
        <p:nvSpPr>
          <p:cNvPr id="8" name="Text 6"/>
          <p:cNvSpPr/>
          <p:nvPr/>
        </p:nvSpPr>
        <p:spPr>
          <a:xfrm>
            <a:off x="991672" y="3423523"/>
            <a:ext cx="3747849" cy="1366838"/>
          </a:xfrm>
          <a:prstGeom prst="rect">
            <a:avLst/>
          </a:prstGeom>
          <a:noFill/>
          <a:ln/>
        </p:spPr>
        <p:txBody>
          <a:bodyPr wrap="square" lIns="0" tIns="0" rIns="0" bIns="0" rtlCol="0" anchor="t"/>
          <a:lstStyle/>
          <a:p>
            <a:pPr marL="0" indent="0" algn="l">
              <a:lnSpc>
                <a:spcPts val="2650"/>
              </a:lnSpc>
              <a:buNone/>
            </a:pPr>
            <a:r>
              <a:rPr lang="en-US" sz="1650" dirty="0">
                <a:solidFill>
                  <a:srgbClr val="CAD6DE"/>
                </a:solidFill>
                <a:latin typeface="Cabin" pitchFamily="34" charset="0"/>
                <a:ea typeface="Cabin" pitchFamily="34" charset="-122"/>
                <a:cs typeface="Cabin" pitchFamily="34" charset="-120"/>
              </a:rPr>
              <a:t>The app detects horizontal planes in AR mode, captures plant images, sends them for disease classification, and displays diagnosis with confidence or retry hints.</a:t>
            </a:r>
            <a:endParaRPr lang="en-US" sz="1650" dirty="0"/>
          </a:p>
        </p:txBody>
      </p:sp>
      <p:sp>
        <p:nvSpPr>
          <p:cNvPr id="9" name="Shape 7"/>
          <p:cNvSpPr/>
          <p:nvPr/>
        </p:nvSpPr>
        <p:spPr>
          <a:xfrm>
            <a:off x="5197197" y="2133243"/>
            <a:ext cx="4236006" cy="2901196"/>
          </a:xfrm>
          <a:prstGeom prst="roundRect">
            <a:avLst>
              <a:gd name="adj" fmla="val 5043"/>
            </a:avLst>
          </a:prstGeom>
          <a:solidFill>
            <a:srgbClr val="112836"/>
          </a:solidFill>
          <a:ln/>
        </p:spPr>
      </p:sp>
      <p:sp>
        <p:nvSpPr>
          <p:cNvPr id="10" name="Shape 8"/>
          <p:cNvSpPr/>
          <p:nvPr/>
        </p:nvSpPr>
        <p:spPr>
          <a:xfrm>
            <a:off x="5197197" y="2102763"/>
            <a:ext cx="4236006" cy="121920"/>
          </a:xfrm>
          <a:prstGeom prst="roundRect">
            <a:avLst>
              <a:gd name="adj" fmla="val 26282"/>
            </a:avLst>
          </a:prstGeom>
          <a:solidFill>
            <a:srgbClr val="0A988B"/>
          </a:solidFill>
          <a:ln/>
        </p:spPr>
      </p:sp>
      <p:sp>
        <p:nvSpPr>
          <p:cNvPr id="11" name="Shape 9"/>
          <p:cNvSpPr/>
          <p:nvPr/>
        </p:nvSpPr>
        <p:spPr>
          <a:xfrm>
            <a:off x="6994803" y="1812846"/>
            <a:ext cx="640794" cy="640794"/>
          </a:xfrm>
          <a:prstGeom prst="roundRect">
            <a:avLst>
              <a:gd name="adj" fmla="val 142698"/>
            </a:avLst>
          </a:prstGeom>
          <a:solidFill>
            <a:srgbClr val="0A988B"/>
          </a:solidFill>
          <a:ln/>
        </p:spPr>
      </p:sp>
      <p:sp>
        <p:nvSpPr>
          <p:cNvPr id="12" name="Text 10"/>
          <p:cNvSpPr/>
          <p:nvPr/>
        </p:nvSpPr>
        <p:spPr>
          <a:xfrm>
            <a:off x="7187089" y="1972985"/>
            <a:ext cx="256223" cy="320397"/>
          </a:xfrm>
          <a:prstGeom prst="rect">
            <a:avLst/>
          </a:prstGeom>
          <a:noFill/>
          <a:ln/>
        </p:spPr>
        <p:txBody>
          <a:bodyPr wrap="none" lIns="0" tIns="0" rIns="0" bIns="0" rtlCol="0" anchor="t"/>
          <a:lstStyle/>
          <a:p>
            <a:pPr marL="0" indent="0" algn="l">
              <a:lnSpc>
                <a:spcPts val="3200"/>
              </a:lnSpc>
              <a:buNone/>
            </a:pPr>
            <a:r>
              <a:rPr lang="en-US" sz="2000" dirty="0">
                <a:solidFill>
                  <a:srgbClr val="FFFFFF"/>
                </a:solidFill>
                <a:latin typeface="Unbounded" pitchFamily="34" charset="0"/>
                <a:ea typeface="Unbounded" pitchFamily="34" charset="-122"/>
                <a:cs typeface="Unbounded" pitchFamily="34" charset="-120"/>
              </a:rPr>
              <a:t>2</a:t>
            </a:r>
            <a:endParaRPr lang="en-US" sz="2000" dirty="0"/>
          </a:p>
        </p:txBody>
      </p:sp>
      <p:sp>
        <p:nvSpPr>
          <p:cNvPr id="13" name="Text 11"/>
          <p:cNvSpPr/>
          <p:nvPr/>
        </p:nvSpPr>
        <p:spPr>
          <a:xfrm>
            <a:off x="5441275" y="2667238"/>
            <a:ext cx="3747849" cy="628174"/>
          </a:xfrm>
          <a:prstGeom prst="rect">
            <a:avLst/>
          </a:prstGeom>
          <a:noFill/>
          <a:ln/>
        </p:spPr>
        <p:txBody>
          <a:bodyPr wrap="squar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Crop Recommendation System</a:t>
            </a:r>
            <a:endParaRPr lang="en-US" sz="1950" dirty="0"/>
          </a:p>
        </p:txBody>
      </p:sp>
      <p:sp>
        <p:nvSpPr>
          <p:cNvPr id="14" name="Text 12"/>
          <p:cNvSpPr/>
          <p:nvPr/>
        </p:nvSpPr>
        <p:spPr>
          <a:xfrm>
            <a:off x="5441275" y="3423523"/>
            <a:ext cx="3747849" cy="1025128"/>
          </a:xfrm>
          <a:prstGeom prst="rect">
            <a:avLst/>
          </a:prstGeom>
          <a:noFill/>
          <a:ln/>
        </p:spPr>
        <p:txBody>
          <a:bodyPr wrap="square" lIns="0" tIns="0" rIns="0" bIns="0" rtlCol="0" anchor="t"/>
          <a:lstStyle/>
          <a:p>
            <a:pPr marL="0" indent="0" algn="l">
              <a:lnSpc>
                <a:spcPts val="2650"/>
              </a:lnSpc>
              <a:buNone/>
            </a:pPr>
            <a:r>
              <a:rPr lang="en-US" sz="1650" dirty="0">
                <a:solidFill>
                  <a:srgbClr val="CAD6DE"/>
                </a:solidFill>
                <a:latin typeface="Cabin" pitchFamily="34" charset="0"/>
                <a:ea typeface="Cabin" pitchFamily="34" charset="-122"/>
                <a:cs typeface="Cabin" pitchFamily="34" charset="-120"/>
              </a:rPr>
              <a:t>Users input soil and environment data to get ranked crop suggestions with suitability scores and brief explanations.</a:t>
            </a:r>
            <a:endParaRPr lang="en-US" sz="1650" dirty="0"/>
          </a:p>
        </p:txBody>
      </p:sp>
      <p:sp>
        <p:nvSpPr>
          <p:cNvPr id="15" name="Shape 13"/>
          <p:cNvSpPr/>
          <p:nvPr/>
        </p:nvSpPr>
        <p:spPr>
          <a:xfrm>
            <a:off x="9646801" y="2133243"/>
            <a:ext cx="4236006" cy="2901196"/>
          </a:xfrm>
          <a:prstGeom prst="roundRect">
            <a:avLst>
              <a:gd name="adj" fmla="val 5043"/>
            </a:avLst>
          </a:prstGeom>
          <a:solidFill>
            <a:srgbClr val="112836"/>
          </a:solidFill>
          <a:ln/>
        </p:spPr>
      </p:sp>
      <p:sp>
        <p:nvSpPr>
          <p:cNvPr id="16" name="Shape 14"/>
          <p:cNvSpPr/>
          <p:nvPr/>
        </p:nvSpPr>
        <p:spPr>
          <a:xfrm>
            <a:off x="9646801" y="2102763"/>
            <a:ext cx="4236006" cy="121920"/>
          </a:xfrm>
          <a:prstGeom prst="roundRect">
            <a:avLst>
              <a:gd name="adj" fmla="val 26282"/>
            </a:avLst>
          </a:prstGeom>
          <a:solidFill>
            <a:srgbClr val="0A988B"/>
          </a:solidFill>
          <a:ln/>
        </p:spPr>
      </p:sp>
      <p:sp>
        <p:nvSpPr>
          <p:cNvPr id="17" name="Shape 15"/>
          <p:cNvSpPr/>
          <p:nvPr/>
        </p:nvSpPr>
        <p:spPr>
          <a:xfrm>
            <a:off x="11444407" y="1812846"/>
            <a:ext cx="640794" cy="640794"/>
          </a:xfrm>
          <a:prstGeom prst="roundRect">
            <a:avLst>
              <a:gd name="adj" fmla="val 142698"/>
            </a:avLst>
          </a:prstGeom>
          <a:solidFill>
            <a:srgbClr val="0A988B"/>
          </a:solidFill>
          <a:ln/>
        </p:spPr>
      </p:sp>
      <p:sp>
        <p:nvSpPr>
          <p:cNvPr id="18" name="Text 16"/>
          <p:cNvSpPr/>
          <p:nvPr/>
        </p:nvSpPr>
        <p:spPr>
          <a:xfrm>
            <a:off x="11636693" y="1972985"/>
            <a:ext cx="256223" cy="320397"/>
          </a:xfrm>
          <a:prstGeom prst="rect">
            <a:avLst/>
          </a:prstGeom>
          <a:noFill/>
          <a:ln/>
        </p:spPr>
        <p:txBody>
          <a:bodyPr wrap="none" lIns="0" tIns="0" rIns="0" bIns="0" rtlCol="0" anchor="t"/>
          <a:lstStyle/>
          <a:p>
            <a:pPr marL="0" indent="0" algn="l">
              <a:lnSpc>
                <a:spcPts val="3200"/>
              </a:lnSpc>
              <a:buNone/>
            </a:pPr>
            <a:r>
              <a:rPr lang="en-US" sz="2000" dirty="0">
                <a:solidFill>
                  <a:srgbClr val="FFFFFF"/>
                </a:solidFill>
                <a:latin typeface="Unbounded" pitchFamily="34" charset="0"/>
                <a:ea typeface="Unbounded" pitchFamily="34" charset="-122"/>
                <a:cs typeface="Unbounded" pitchFamily="34" charset="-120"/>
              </a:rPr>
              <a:t>3</a:t>
            </a:r>
            <a:endParaRPr lang="en-US" sz="2000" dirty="0"/>
          </a:p>
        </p:txBody>
      </p:sp>
      <p:sp>
        <p:nvSpPr>
          <p:cNvPr id="19" name="Text 17"/>
          <p:cNvSpPr/>
          <p:nvPr/>
        </p:nvSpPr>
        <p:spPr>
          <a:xfrm>
            <a:off x="9890879" y="2667238"/>
            <a:ext cx="3747849" cy="628174"/>
          </a:xfrm>
          <a:prstGeom prst="rect">
            <a:avLst/>
          </a:prstGeom>
          <a:noFill/>
          <a:ln/>
        </p:spPr>
        <p:txBody>
          <a:bodyPr wrap="squar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Market and Resource Listings</a:t>
            </a:r>
            <a:endParaRPr lang="en-US" sz="1950" dirty="0"/>
          </a:p>
        </p:txBody>
      </p:sp>
      <p:sp>
        <p:nvSpPr>
          <p:cNvPr id="20" name="Text 18"/>
          <p:cNvSpPr/>
          <p:nvPr/>
        </p:nvSpPr>
        <p:spPr>
          <a:xfrm>
            <a:off x="9890879" y="3423523"/>
            <a:ext cx="3747849" cy="1025128"/>
          </a:xfrm>
          <a:prstGeom prst="rect">
            <a:avLst/>
          </a:prstGeom>
          <a:noFill/>
          <a:ln/>
        </p:spPr>
        <p:txBody>
          <a:bodyPr wrap="square" lIns="0" tIns="0" rIns="0" bIns="0" rtlCol="0" anchor="t"/>
          <a:lstStyle/>
          <a:p>
            <a:pPr marL="0" indent="0" algn="l">
              <a:lnSpc>
                <a:spcPts val="2650"/>
              </a:lnSpc>
              <a:buNone/>
            </a:pPr>
            <a:r>
              <a:rPr lang="en-US" sz="1650" dirty="0">
                <a:solidFill>
                  <a:srgbClr val="CAD6DE"/>
                </a:solidFill>
                <a:latin typeface="Cabin" pitchFamily="34" charset="0"/>
                <a:ea typeface="Cabin" pitchFamily="34" charset="-122"/>
                <a:cs typeface="Cabin" pitchFamily="34" charset="-120"/>
              </a:rPr>
              <a:t>The app shows market cards for seeds, vendors, and equipment, along with short agricultural news updates.</a:t>
            </a:r>
            <a:endParaRPr lang="en-US" sz="1650" dirty="0"/>
          </a:p>
        </p:txBody>
      </p:sp>
      <p:sp>
        <p:nvSpPr>
          <p:cNvPr id="21" name="Shape 19"/>
          <p:cNvSpPr/>
          <p:nvPr/>
        </p:nvSpPr>
        <p:spPr>
          <a:xfrm>
            <a:off x="747593" y="5568434"/>
            <a:ext cx="6460808" cy="1903690"/>
          </a:xfrm>
          <a:prstGeom prst="roundRect">
            <a:avLst>
              <a:gd name="adj" fmla="val 7685"/>
            </a:avLst>
          </a:prstGeom>
          <a:solidFill>
            <a:srgbClr val="112836"/>
          </a:solidFill>
          <a:ln/>
        </p:spPr>
      </p:sp>
      <p:sp>
        <p:nvSpPr>
          <p:cNvPr id="22" name="Shape 20"/>
          <p:cNvSpPr/>
          <p:nvPr/>
        </p:nvSpPr>
        <p:spPr>
          <a:xfrm>
            <a:off x="747593" y="5537954"/>
            <a:ext cx="6460808" cy="121920"/>
          </a:xfrm>
          <a:prstGeom prst="roundRect">
            <a:avLst>
              <a:gd name="adj" fmla="val 26282"/>
            </a:avLst>
          </a:prstGeom>
          <a:solidFill>
            <a:srgbClr val="0A988B"/>
          </a:solidFill>
          <a:ln/>
        </p:spPr>
      </p:sp>
      <p:sp>
        <p:nvSpPr>
          <p:cNvPr id="23" name="Shape 21"/>
          <p:cNvSpPr/>
          <p:nvPr/>
        </p:nvSpPr>
        <p:spPr>
          <a:xfrm>
            <a:off x="3657600" y="5248037"/>
            <a:ext cx="640794" cy="640794"/>
          </a:xfrm>
          <a:prstGeom prst="roundRect">
            <a:avLst>
              <a:gd name="adj" fmla="val 142698"/>
            </a:avLst>
          </a:prstGeom>
          <a:solidFill>
            <a:srgbClr val="0A988B"/>
          </a:solidFill>
          <a:ln/>
        </p:spPr>
      </p:sp>
      <p:sp>
        <p:nvSpPr>
          <p:cNvPr id="24" name="Text 22"/>
          <p:cNvSpPr/>
          <p:nvPr/>
        </p:nvSpPr>
        <p:spPr>
          <a:xfrm>
            <a:off x="3849886" y="5408176"/>
            <a:ext cx="256223" cy="320397"/>
          </a:xfrm>
          <a:prstGeom prst="rect">
            <a:avLst/>
          </a:prstGeom>
          <a:noFill/>
          <a:ln/>
        </p:spPr>
        <p:txBody>
          <a:bodyPr wrap="none" lIns="0" tIns="0" rIns="0" bIns="0" rtlCol="0" anchor="t"/>
          <a:lstStyle/>
          <a:p>
            <a:pPr marL="0" indent="0" algn="l">
              <a:lnSpc>
                <a:spcPts val="3200"/>
              </a:lnSpc>
              <a:buNone/>
            </a:pPr>
            <a:r>
              <a:rPr lang="en-US" sz="2000" dirty="0">
                <a:solidFill>
                  <a:srgbClr val="FFFFFF"/>
                </a:solidFill>
                <a:latin typeface="Unbounded" pitchFamily="34" charset="0"/>
                <a:ea typeface="Unbounded" pitchFamily="34" charset="-122"/>
                <a:cs typeface="Unbounded" pitchFamily="34" charset="-120"/>
              </a:rPr>
              <a:t>4</a:t>
            </a:r>
            <a:endParaRPr lang="en-US" sz="2000" dirty="0"/>
          </a:p>
        </p:txBody>
      </p:sp>
      <p:sp>
        <p:nvSpPr>
          <p:cNvPr id="25" name="Text 23"/>
          <p:cNvSpPr/>
          <p:nvPr/>
        </p:nvSpPr>
        <p:spPr>
          <a:xfrm>
            <a:off x="991672" y="6102429"/>
            <a:ext cx="4744403" cy="314087"/>
          </a:xfrm>
          <a:prstGeom prst="rect">
            <a:avLst/>
          </a:prstGeom>
          <a:noFill/>
          <a:ln/>
        </p:spPr>
        <p:txBody>
          <a:bodyPr wrap="non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Searchable Catalog and Details</a:t>
            </a:r>
            <a:endParaRPr lang="en-US" sz="1950" dirty="0"/>
          </a:p>
        </p:txBody>
      </p:sp>
      <p:sp>
        <p:nvSpPr>
          <p:cNvPr id="26" name="Text 24"/>
          <p:cNvSpPr/>
          <p:nvPr/>
        </p:nvSpPr>
        <p:spPr>
          <a:xfrm>
            <a:off x="991672" y="6544628"/>
            <a:ext cx="5972651" cy="683419"/>
          </a:xfrm>
          <a:prstGeom prst="rect">
            <a:avLst/>
          </a:prstGeom>
          <a:noFill/>
          <a:ln/>
        </p:spPr>
        <p:txBody>
          <a:bodyPr wrap="square" lIns="0" tIns="0" rIns="0" bIns="0" rtlCol="0" anchor="t"/>
          <a:lstStyle/>
          <a:p>
            <a:pPr marL="0" indent="0" algn="l">
              <a:lnSpc>
                <a:spcPts val="2650"/>
              </a:lnSpc>
              <a:buNone/>
            </a:pPr>
            <a:r>
              <a:rPr lang="en-US" sz="1650" dirty="0">
                <a:solidFill>
                  <a:srgbClr val="CAD6DE"/>
                </a:solidFill>
                <a:latin typeface="Cabin" pitchFamily="34" charset="0"/>
                <a:ea typeface="Cabin" pitchFamily="34" charset="-122"/>
                <a:cs typeface="Cabin" pitchFamily="34" charset="-120"/>
              </a:rPr>
              <a:t>A searchable catalog displays plants and animals with filters; selecting an item shows details like soil type, season, and prices.</a:t>
            </a:r>
            <a:endParaRPr lang="en-US" sz="1650" dirty="0"/>
          </a:p>
        </p:txBody>
      </p:sp>
      <p:sp>
        <p:nvSpPr>
          <p:cNvPr id="27" name="Shape 25"/>
          <p:cNvSpPr/>
          <p:nvPr/>
        </p:nvSpPr>
        <p:spPr>
          <a:xfrm>
            <a:off x="7421999" y="5568434"/>
            <a:ext cx="6460808" cy="1903690"/>
          </a:xfrm>
          <a:prstGeom prst="roundRect">
            <a:avLst>
              <a:gd name="adj" fmla="val 7685"/>
            </a:avLst>
          </a:prstGeom>
          <a:solidFill>
            <a:srgbClr val="112836"/>
          </a:solidFill>
          <a:ln/>
        </p:spPr>
      </p:sp>
      <p:sp>
        <p:nvSpPr>
          <p:cNvPr id="28" name="Shape 26"/>
          <p:cNvSpPr/>
          <p:nvPr/>
        </p:nvSpPr>
        <p:spPr>
          <a:xfrm>
            <a:off x="7421999" y="5537954"/>
            <a:ext cx="6460808" cy="121920"/>
          </a:xfrm>
          <a:prstGeom prst="roundRect">
            <a:avLst>
              <a:gd name="adj" fmla="val 26282"/>
            </a:avLst>
          </a:prstGeom>
          <a:solidFill>
            <a:srgbClr val="0A988B"/>
          </a:solidFill>
          <a:ln/>
        </p:spPr>
      </p:sp>
      <p:sp>
        <p:nvSpPr>
          <p:cNvPr id="29" name="Shape 27"/>
          <p:cNvSpPr/>
          <p:nvPr/>
        </p:nvSpPr>
        <p:spPr>
          <a:xfrm>
            <a:off x="10332006" y="5248037"/>
            <a:ext cx="640794" cy="640794"/>
          </a:xfrm>
          <a:prstGeom prst="roundRect">
            <a:avLst>
              <a:gd name="adj" fmla="val 142698"/>
            </a:avLst>
          </a:prstGeom>
          <a:solidFill>
            <a:srgbClr val="0A988B"/>
          </a:solidFill>
          <a:ln/>
        </p:spPr>
      </p:sp>
      <p:sp>
        <p:nvSpPr>
          <p:cNvPr id="30" name="Text 28"/>
          <p:cNvSpPr/>
          <p:nvPr/>
        </p:nvSpPr>
        <p:spPr>
          <a:xfrm>
            <a:off x="10524292" y="5408176"/>
            <a:ext cx="256223" cy="320397"/>
          </a:xfrm>
          <a:prstGeom prst="rect">
            <a:avLst/>
          </a:prstGeom>
          <a:noFill/>
          <a:ln/>
        </p:spPr>
        <p:txBody>
          <a:bodyPr wrap="none" lIns="0" tIns="0" rIns="0" bIns="0" rtlCol="0" anchor="t"/>
          <a:lstStyle/>
          <a:p>
            <a:pPr marL="0" indent="0" algn="l">
              <a:lnSpc>
                <a:spcPts val="3200"/>
              </a:lnSpc>
              <a:buNone/>
            </a:pPr>
            <a:r>
              <a:rPr lang="en-US" sz="2000" dirty="0">
                <a:solidFill>
                  <a:srgbClr val="FFFFFF"/>
                </a:solidFill>
                <a:latin typeface="Unbounded" pitchFamily="34" charset="0"/>
                <a:ea typeface="Unbounded" pitchFamily="34" charset="-122"/>
                <a:cs typeface="Unbounded" pitchFamily="34" charset="-120"/>
              </a:rPr>
              <a:t>5</a:t>
            </a:r>
            <a:endParaRPr lang="en-US" sz="2000" dirty="0"/>
          </a:p>
        </p:txBody>
      </p:sp>
      <p:sp>
        <p:nvSpPr>
          <p:cNvPr id="31" name="Text 29"/>
          <p:cNvSpPr/>
          <p:nvPr/>
        </p:nvSpPr>
        <p:spPr>
          <a:xfrm>
            <a:off x="7666077" y="6102429"/>
            <a:ext cx="4372094" cy="314087"/>
          </a:xfrm>
          <a:prstGeom prst="rect">
            <a:avLst/>
          </a:prstGeom>
          <a:noFill/>
          <a:ln/>
        </p:spPr>
        <p:txBody>
          <a:bodyPr wrap="none" lIns="0" tIns="0" rIns="0" bIns="0" rtlCol="0" anchor="t"/>
          <a:lstStyle/>
          <a:p>
            <a:pPr marL="0" indent="0" algn="l">
              <a:lnSpc>
                <a:spcPts val="2450"/>
              </a:lnSpc>
              <a:buNone/>
            </a:pPr>
            <a:r>
              <a:rPr lang="en-US" sz="1950" dirty="0">
                <a:solidFill>
                  <a:srgbClr val="CAD6DE"/>
                </a:solidFill>
                <a:latin typeface="Unbounded" pitchFamily="34" charset="0"/>
                <a:ea typeface="Unbounded" pitchFamily="34" charset="-122"/>
                <a:cs typeface="Unbounded" pitchFamily="34" charset="-120"/>
              </a:rPr>
              <a:t>Profile, Settings, and Support</a:t>
            </a:r>
            <a:endParaRPr lang="en-US" sz="1950" dirty="0"/>
          </a:p>
        </p:txBody>
      </p:sp>
      <p:sp>
        <p:nvSpPr>
          <p:cNvPr id="32" name="Text 30"/>
          <p:cNvSpPr/>
          <p:nvPr/>
        </p:nvSpPr>
        <p:spPr>
          <a:xfrm>
            <a:off x="7666077" y="6544628"/>
            <a:ext cx="5972651" cy="683419"/>
          </a:xfrm>
          <a:prstGeom prst="rect">
            <a:avLst/>
          </a:prstGeom>
          <a:noFill/>
          <a:ln/>
        </p:spPr>
        <p:txBody>
          <a:bodyPr wrap="square" lIns="0" tIns="0" rIns="0" bIns="0" rtlCol="0" anchor="t"/>
          <a:lstStyle/>
          <a:p>
            <a:pPr marL="0" indent="0" algn="l">
              <a:lnSpc>
                <a:spcPts val="2650"/>
              </a:lnSpc>
              <a:buNone/>
            </a:pPr>
            <a:r>
              <a:rPr lang="en-US" sz="1650" dirty="0">
                <a:solidFill>
                  <a:srgbClr val="CAD6DE"/>
                </a:solidFill>
                <a:latin typeface="Cabin" pitchFamily="34" charset="0"/>
                <a:ea typeface="Cabin" pitchFamily="34" charset="-122"/>
                <a:cs typeface="Cabin" pitchFamily="34" charset="-120"/>
              </a:rPr>
              <a:t>Users can view app info, adjust settings, and access a support/about section with necessary disclaimers.</a:t>
            </a:r>
            <a:endParaRPr lang="en-US" sz="1650" dirty="0"/>
          </a:p>
        </p:txBody>
      </p:sp>
      <p:sp>
        <p:nvSpPr>
          <p:cNvPr id="33" name="Rectangle 32">
            <a:extLst>
              <a:ext uri="{FF2B5EF4-FFF2-40B4-BE49-F238E27FC236}">
                <a16:creationId xmlns:a16="http://schemas.microsoft.com/office/drawing/2014/main" id="{EA3BBCD7-615C-0441-9AD1-1ACE957F67A4}"/>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437909"/>
            <a:ext cx="9958507"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Non-Functional Requirements</a:t>
            </a:r>
            <a:endParaRPr lang="en-US" sz="4400" dirty="0"/>
          </a:p>
        </p:txBody>
      </p:sp>
      <p:sp>
        <p:nvSpPr>
          <p:cNvPr id="3" name="Text 1"/>
          <p:cNvSpPr/>
          <p:nvPr/>
        </p:nvSpPr>
        <p:spPr>
          <a:xfrm>
            <a:off x="837724" y="1539621"/>
            <a:ext cx="3590449" cy="351949"/>
          </a:xfrm>
          <a:prstGeom prst="rect">
            <a:avLst/>
          </a:prstGeom>
          <a:noFill/>
          <a:ln/>
        </p:spPr>
        <p:txBody>
          <a:bodyPr wrap="none" lIns="0" tIns="0" rIns="0" bIns="0" rtlCol="0" anchor="t"/>
          <a:lstStyle/>
          <a:p>
            <a:pPr marL="0" indent="0" algn="l">
              <a:lnSpc>
                <a:spcPts val="2750"/>
              </a:lnSpc>
              <a:buNone/>
            </a:pPr>
            <a:r>
              <a:rPr lang="en-US" sz="2200" dirty="0">
                <a:solidFill>
                  <a:schemeClr val="bg1"/>
                </a:solidFill>
                <a:latin typeface="Unbounded" pitchFamily="34" charset="0"/>
                <a:ea typeface="Unbounded" pitchFamily="34" charset="-122"/>
                <a:cs typeface="Unbounded" pitchFamily="34" charset="-120"/>
              </a:rPr>
              <a:t>Performance Metrics</a:t>
            </a:r>
            <a:endParaRPr lang="en-US" sz="2200" dirty="0">
              <a:solidFill>
                <a:schemeClr val="bg1"/>
              </a:solidFill>
            </a:endParaRPr>
          </a:p>
        </p:txBody>
      </p:sp>
      <p:sp>
        <p:nvSpPr>
          <p:cNvPr id="4" name="Text 2"/>
          <p:cNvSpPr/>
          <p:nvPr/>
        </p:nvSpPr>
        <p:spPr>
          <a:xfrm>
            <a:off x="837724" y="2130885"/>
            <a:ext cx="6185535" cy="1149072"/>
          </a:xfrm>
          <a:prstGeom prst="rect">
            <a:avLst/>
          </a:prstGeom>
          <a:noFill/>
          <a:ln/>
        </p:spPr>
        <p:txBody>
          <a:bodyPr wrap="square" lIns="0" tIns="0" rIns="0" bIns="0" rtlCol="0" anchor="t"/>
          <a:lstStyle/>
          <a:p>
            <a:pPr marL="342900" indent="-342900" algn="l">
              <a:lnSpc>
                <a:spcPts val="3000"/>
              </a:lnSpc>
              <a:buSzPct val="100000"/>
              <a:buFont typeface="+mj-lt"/>
              <a:buAutoNum type="arabicPeriod"/>
            </a:pPr>
            <a:r>
              <a:rPr lang="en-US" sz="1850" b="1" dirty="0">
                <a:solidFill>
                  <a:srgbClr val="CAD6DE"/>
                </a:solidFill>
                <a:latin typeface="Cabin" pitchFamily="34" charset="0"/>
                <a:ea typeface="Cabin" pitchFamily="34" charset="-122"/>
                <a:cs typeface="Cabin" pitchFamily="34" charset="-120"/>
              </a:rPr>
              <a:t>AR Frame Rate:</a:t>
            </a:r>
            <a:r>
              <a:rPr lang="en-US" sz="1850" dirty="0">
                <a:solidFill>
                  <a:srgbClr val="CAD6DE"/>
                </a:solidFill>
                <a:latin typeface="Cabin" pitchFamily="34" charset="0"/>
                <a:ea typeface="Cabin" pitchFamily="34" charset="-122"/>
                <a:cs typeface="Cabin" pitchFamily="34" charset="-120"/>
              </a:rPr>
              <a:t> The AR view should maintain at least 24 FPS on mid-range Android devices under normal indoor lighting.</a:t>
            </a:r>
            <a:endParaRPr lang="en-US" sz="1850" dirty="0"/>
          </a:p>
        </p:txBody>
      </p:sp>
      <p:sp>
        <p:nvSpPr>
          <p:cNvPr id="5" name="Text 3"/>
          <p:cNvSpPr/>
          <p:nvPr/>
        </p:nvSpPr>
        <p:spPr>
          <a:xfrm>
            <a:off x="837724" y="3363658"/>
            <a:ext cx="6185535" cy="1149072"/>
          </a:xfrm>
          <a:prstGeom prst="rect">
            <a:avLst/>
          </a:prstGeom>
          <a:noFill/>
          <a:ln/>
        </p:spPr>
        <p:txBody>
          <a:bodyPr wrap="square" lIns="0" tIns="0" rIns="0" bIns="0" rtlCol="0" anchor="t"/>
          <a:lstStyle/>
          <a:p>
            <a:pPr marL="342900" indent="-342900" algn="l">
              <a:lnSpc>
                <a:spcPts val="3000"/>
              </a:lnSpc>
              <a:buSzPct val="100000"/>
              <a:buFont typeface="+mj-lt"/>
              <a:buAutoNum type="arabicPeriod" startAt="2"/>
            </a:pPr>
            <a:r>
              <a:rPr lang="en-US" sz="1850" b="1" dirty="0">
                <a:solidFill>
                  <a:srgbClr val="CAD6DE"/>
                </a:solidFill>
                <a:latin typeface="Cabin" pitchFamily="34" charset="0"/>
                <a:ea typeface="Cabin" pitchFamily="34" charset="-122"/>
                <a:cs typeface="Cabin" pitchFamily="34" charset="-120"/>
              </a:rPr>
              <a:t>Plant Disease Detection Speed:</a:t>
            </a:r>
            <a:r>
              <a:rPr lang="en-US" sz="1850" dirty="0">
                <a:solidFill>
                  <a:srgbClr val="CAD6DE"/>
                </a:solidFill>
                <a:latin typeface="Cabin" pitchFamily="34" charset="0"/>
                <a:ea typeface="Cabin" pitchFamily="34" charset="-122"/>
                <a:cs typeface="Cabin" pitchFamily="34" charset="-120"/>
              </a:rPr>
              <a:t> The disease check round-trip should be ≤2s on Wi-Fi (for ≤1.5 MB image) and ≤5s on 4G.</a:t>
            </a:r>
            <a:endParaRPr lang="en-US" sz="1850" dirty="0"/>
          </a:p>
        </p:txBody>
      </p:sp>
      <p:sp>
        <p:nvSpPr>
          <p:cNvPr id="6" name="Text 4"/>
          <p:cNvSpPr/>
          <p:nvPr/>
        </p:nvSpPr>
        <p:spPr>
          <a:xfrm>
            <a:off x="837724" y="4596432"/>
            <a:ext cx="6185535" cy="1149072"/>
          </a:xfrm>
          <a:prstGeom prst="rect">
            <a:avLst/>
          </a:prstGeom>
          <a:noFill/>
          <a:ln/>
        </p:spPr>
        <p:txBody>
          <a:bodyPr wrap="square" lIns="0" tIns="0" rIns="0" bIns="0" rtlCol="0" anchor="t"/>
          <a:lstStyle/>
          <a:p>
            <a:pPr marL="342900" indent="-342900" algn="l">
              <a:lnSpc>
                <a:spcPts val="3000"/>
              </a:lnSpc>
              <a:buSzPct val="100000"/>
              <a:buFont typeface="+mj-lt"/>
              <a:buAutoNum type="arabicPeriod" startAt="3"/>
            </a:pPr>
            <a:r>
              <a:rPr lang="en-US" sz="1850" b="1" dirty="0">
                <a:solidFill>
                  <a:srgbClr val="CAD6DE"/>
                </a:solidFill>
                <a:latin typeface="Cabin" pitchFamily="34" charset="0"/>
                <a:ea typeface="Cabin" pitchFamily="34" charset="-122"/>
                <a:cs typeface="Cabin" pitchFamily="34" charset="-120"/>
              </a:rPr>
              <a:t>Crop Recommendation Response:</a:t>
            </a:r>
            <a:r>
              <a:rPr lang="en-US" sz="1850" dirty="0">
                <a:solidFill>
                  <a:srgbClr val="CAD6DE"/>
                </a:solidFill>
                <a:latin typeface="Cabin" pitchFamily="34" charset="0"/>
                <a:ea typeface="Cabin" pitchFamily="34" charset="-122"/>
                <a:cs typeface="Cabin" pitchFamily="34" charset="-120"/>
              </a:rPr>
              <a:t> The backend should respond within ≤1.5s on Wi-Fi for a typical crop recommendation request.</a:t>
            </a:r>
            <a:endParaRPr lang="en-US" sz="1850" dirty="0"/>
          </a:p>
        </p:txBody>
      </p:sp>
      <p:sp>
        <p:nvSpPr>
          <p:cNvPr id="7" name="Text 5"/>
          <p:cNvSpPr/>
          <p:nvPr/>
        </p:nvSpPr>
        <p:spPr>
          <a:xfrm>
            <a:off x="7614761" y="1539621"/>
            <a:ext cx="4078129" cy="351949"/>
          </a:xfrm>
          <a:prstGeom prst="rect">
            <a:avLst/>
          </a:prstGeom>
          <a:noFill/>
          <a:ln/>
        </p:spPr>
        <p:txBody>
          <a:bodyPr wrap="none" lIns="0" tIns="0" rIns="0" bIns="0" rtlCol="0" anchor="t"/>
          <a:lstStyle/>
          <a:p>
            <a:pPr marL="0" indent="0" algn="l">
              <a:lnSpc>
                <a:spcPts val="2750"/>
              </a:lnSpc>
              <a:buNone/>
            </a:pPr>
            <a:r>
              <a:rPr lang="en-US" sz="2200" dirty="0">
                <a:solidFill>
                  <a:schemeClr val="bg1"/>
                </a:solidFill>
                <a:latin typeface="Unbounded" pitchFamily="34" charset="0"/>
                <a:ea typeface="Unbounded" pitchFamily="34" charset="-122"/>
                <a:cs typeface="Unbounded" pitchFamily="34" charset="-120"/>
              </a:rPr>
              <a:t>System Responsiveness</a:t>
            </a:r>
            <a:endParaRPr lang="en-US" sz="2200" dirty="0">
              <a:solidFill>
                <a:schemeClr val="bg1"/>
              </a:solidFill>
            </a:endParaRPr>
          </a:p>
        </p:txBody>
      </p:sp>
      <p:sp>
        <p:nvSpPr>
          <p:cNvPr id="8" name="Text 6"/>
          <p:cNvSpPr/>
          <p:nvPr/>
        </p:nvSpPr>
        <p:spPr>
          <a:xfrm>
            <a:off x="7614761" y="2130885"/>
            <a:ext cx="6185535" cy="1149072"/>
          </a:xfrm>
          <a:prstGeom prst="rect">
            <a:avLst/>
          </a:prstGeom>
          <a:noFill/>
          <a:ln/>
        </p:spPr>
        <p:txBody>
          <a:bodyPr wrap="square" lIns="0" tIns="0" rIns="0" bIns="0" rtlCol="0" anchor="t"/>
          <a:lstStyle/>
          <a:p>
            <a:pPr marL="342900" indent="-342900" algn="l">
              <a:lnSpc>
                <a:spcPts val="3000"/>
              </a:lnSpc>
              <a:buSzPct val="100000"/>
              <a:buFont typeface="+mj-lt"/>
              <a:buAutoNum type="arabicPeriod"/>
            </a:pPr>
            <a:r>
              <a:rPr lang="en-US" sz="1850" b="1" dirty="0">
                <a:solidFill>
                  <a:srgbClr val="CAD6DE"/>
                </a:solidFill>
                <a:latin typeface="Cabin" pitchFamily="34" charset="0"/>
                <a:ea typeface="Cabin" pitchFamily="34" charset="-122"/>
                <a:cs typeface="Cabin" pitchFamily="34" charset="-120"/>
              </a:rPr>
              <a:t>Sensor Dashboard Performance:</a:t>
            </a:r>
            <a:r>
              <a:rPr lang="en-US" sz="1850" dirty="0">
                <a:solidFill>
                  <a:srgbClr val="CAD6DE"/>
                </a:solidFill>
                <a:latin typeface="Cabin" pitchFamily="34" charset="0"/>
                <a:ea typeface="Cabin" pitchFamily="34" charset="-122"/>
                <a:cs typeface="Cabin" pitchFamily="34" charset="-120"/>
              </a:rPr>
              <a:t> The dashboard polls every second (adjustable to 5s) and UI updates must not cause frame stalls over 16 ms.</a:t>
            </a:r>
            <a:endParaRPr lang="en-US" sz="1850" dirty="0"/>
          </a:p>
        </p:txBody>
      </p:sp>
      <p:sp>
        <p:nvSpPr>
          <p:cNvPr id="9" name="Text 7"/>
          <p:cNvSpPr/>
          <p:nvPr/>
        </p:nvSpPr>
        <p:spPr>
          <a:xfrm>
            <a:off x="7614761" y="3363658"/>
            <a:ext cx="6185535" cy="1149072"/>
          </a:xfrm>
          <a:prstGeom prst="rect">
            <a:avLst/>
          </a:prstGeom>
          <a:noFill/>
          <a:ln/>
        </p:spPr>
        <p:txBody>
          <a:bodyPr wrap="square" lIns="0" tIns="0" rIns="0" bIns="0" rtlCol="0" anchor="t"/>
          <a:lstStyle/>
          <a:p>
            <a:pPr marL="342900" indent="-342900" algn="l">
              <a:lnSpc>
                <a:spcPts val="3000"/>
              </a:lnSpc>
              <a:buSzPct val="100000"/>
              <a:buFont typeface="+mj-lt"/>
              <a:buAutoNum type="arabicPeriod" startAt="2"/>
            </a:pPr>
            <a:r>
              <a:rPr lang="en-US" sz="1850" b="1" dirty="0">
                <a:solidFill>
                  <a:srgbClr val="CAD6DE"/>
                </a:solidFill>
                <a:latin typeface="Cabin" pitchFamily="34" charset="0"/>
                <a:ea typeface="Cabin" pitchFamily="34" charset="-122"/>
                <a:cs typeface="Cabin" pitchFamily="34" charset="-120"/>
              </a:rPr>
              <a:t>App Launch Time:</a:t>
            </a:r>
            <a:r>
              <a:rPr lang="en-US" sz="1850" dirty="0">
                <a:solidFill>
                  <a:srgbClr val="CAD6DE"/>
                </a:solidFill>
                <a:latin typeface="Cabin" pitchFamily="34" charset="0"/>
                <a:ea typeface="Cabin" pitchFamily="34" charset="-122"/>
                <a:cs typeface="Cabin" pitchFamily="34" charset="-120"/>
              </a:rPr>
              <a:t> Cold start to first interactive screen should be under 3 seconds on mid-range Android devices.</a:t>
            </a:r>
            <a:endParaRPr lang="en-US" sz="1850" dirty="0"/>
          </a:p>
        </p:txBody>
      </p:sp>
      <p:sp>
        <p:nvSpPr>
          <p:cNvPr id="10" name="Text 8"/>
          <p:cNvSpPr/>
          <p:nvPr/>
        </p:nvSpPr>
        <p:spPr>
          <a:xfrm>
            <a:off x="7614761" y="4596432"/>
            <a:ext cx="6185535" cy="1149072"/>
          </a:xfrm>
          <a:prstGeom prst="rect">
            <a:avLst/>
          </a:prstGeom>
          <a:noFill/>
          <a:ln/>
        </p:spPr>
        <p:txBody>
          <a:bodyPr wrap="square" lIns="0" tIns="0" rIns="0" bIns="0" rtlCol="0" anchor="t"/>
          <a:lstStyle/>
          <a:p>
            <a:pPr marL="342900" indent="-342900" algn="l">
              <a:lnSpc>
                <a:spcPts val="3000"/>
              </a:lnSpc>
              <a:buSzPct val="100000"/>
              <a:buFont typeface="+mj-lt"/>
              <a:buAutoNum type="arabicPeriod" startAt="3"/>
            </a:pPr>
            <a:r>
              <a:rPr lang="en-US" sz="1850" b="1" dirty="0">
                <a:solidFill>
                  <a:srgbClr val="CAD6DE"/>
                </a:solidFill>
                <a:latin typeface="Cabin" pitchFamily="34" charset="0"/>
                <a:ea typeface="Cabin" pitchFamily="34" charset="-122"/>
                <a:cs typeface="Cabin" pitchFamily="34" charset="-120"/>
              </a:rPr>
              <a:t>AR Plane Detection Time:</a:t>
            </a:r>
            <a:r>
              <a:rPr lang="en-US" sz="1850" dirty="0">
                <a:solidFill>
                  <a:srgbClr val="CAD6DE"/>
                </a:solidFill>
                <a:latin typeface="Cabin" pitchFamily="34" charset="0"/>
                <a:ea typeface="Cabin" pitchFamily="34" charset="-122"/>
                <a:cs typeface="Cabin" pitchFamily="34" charset="-120"/>
              </a:rPr>
              <a:t> Plane detection should complete within 10 seconds indoors; otherwise, the app prompts a retry.</a:t>
            </a:r>
            <a:endParaRPr lang="en-US" sz="1850" dirty="0"/>
          </a:p>
        </p:txBody>
      </p:sp>
      <p:sp>
        <p:nvSpPr>
          <p:cNvPr id="11" name="Rectangle 10">
            <a:extLst>
              <a:ext uri="{FF2B5EF4-FFF2-40B4-BE49-F238E27FC236}">
                <a16:creationId xmlns:a16="http://schemas.microsoft.com/office/drawing/2014/main" id="{231CCE31-40EB-84B5-8E73-1989F7491142}"/>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6620" y="454223"/>
            <a:ext cx="3877032" cy="484584"/>
          </a:xfrm>
          <a:prstGeom prst="rect">
            <a:avLst/>
          </a:prstGeom>
          <a:noFill/>
          <a:ln/>
        </p:spPr>
        <p:txBody>
          <a:bodyPr wrap="none" lIns="0" tIns="0" rIns="0" bIns="0" rtlCol="0" anchor="t"/>
          <a:lstStyle/>
          <a:p>
            <a:pPr marL="0" indent="0" algn="l">
              <a:lnSpc>
                <a:spcPts val="3800"/>
              </a:lnSpc>
              <a:buNone/>
            </a:pPr>
            <a:r>
              <a:rPr lang="en-US" sz="3050" dirty="0">
                <a:solidFill>
                  <a:srgbClr val="FFFFFF"/>
                </a:solidFill>
                <a:latin typeface="Unbounded" pitchFamily="34" charset="0"/>
                <a:ea typeface="Unbounded" pitchFamily="34" charset="-122"/>
                <a:cs typeface="Unbounded" pitchFamily="34" charset="-120"/>
              </a:rPr>
              <a:t>SDS</a:t>
            </a:r>
            <a:endParaRPr lang="en-US" sz="3050" dirty="0"/>
          </a:p>
        </p:txBody>
      </p:sp>
      <p:pic>
        <p:nvPicPr>
          <p:cNvPr id="3" name="Image 0" descr="preencoded.png"/>
          <p:cNvPicPr>
            <a:picLocks noChangeAspect="1"/>
          </p:cNvPicPr>
          <p:nvPr/>
        </p:nvPicPr>
        <p:blipFill>
          <a:blip r:embed="rId3"/>
          <a:stretch>
            <a:fillRect/>
          </a:stretch>
        </p:blipFill>
        <p:spPr>
          <a:xfrm>
            <a:off x="2713700" y="1059687"/>
            <a:ext cx="9203000" cy="6715690"/>
          </a:xfrm>
          <a:prstGeom prst="rect">
            <a:avLst/>
          </a:prstGeom>
        </p:spPr>
      </p:pic>
      <p:sp>
        <p:nvSpPr>
          <p:cNvPr id="4" name="Rectangle 3">
            <a:extLst>
              <a:ext uri="{FF2B5EF4-FFF2-40B4-BE49-F238E27FC236}">
                <a16:creationId xmlns:a16="http://schemas.microsoft.com/office/drawing/2014/main" id="{22501418-7278-F65F-C58D-FEC29F89E8C5}"/>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0898" y="410170"/>
            <a:ext cx="4852749" cy="437674"/>
          </a:xfrm>
          <a:prstGeom prst="rect">
            <a:avLst/>
          </a:prstGeom>
          <a:noFill/>
          <a:ln/>
        </p:spPr>
        <p:txBody>
          <a:bodyPr wrap="none" lIns="0" tIns="0" rIns="0" bIns="0" rtlCol="0" anchor="t"/>
          <a:lstStyle/>
          <a:p>
            <a:pPr marL="0" indent="0" algn="l">
              <a:lnSpc>
                <a:spcPts val="3400"/>
              </a:lnSpc>
              <a:buNone/>
            </a:pPr>
            <a:r>
              <a:rPr lang="en-US" sz="2750" dirty="0">
                <a:solidFill>
                  <a:srgbClr val="FFFFFF"/>
                </a:solidFill>
                <a:latin typeface="Unbounded" pitchFamily="34" charset="0"/>
                <a:ea typeface="Unbounded" pitchFamily="34" charset="-122"/>
                <a:cs typeface="Unbounded" pitchFamily="34" charset="-120"/>
              </a:rPr>
              <a:t>Crop Recommendation</a:t>
            </a:r>
            <a:endParaRPr lang="en-US" sz="2750" dirty="0"/>
          </a:p>
        </p:txBody>
      </p:sp>
      <p:pic>
        <p:nvPicPr>
          <p:cNvPr id="3" name="Image 0" descr="preencoded.png"/>
          <p:cNvPicPr>
            <a:picLocks noChangeAspect="1"/>
          </p:cNvPicPr>
          <p:nvPr/>
        </p:nvPicPr>
        <p:blipFill>
          <a:blip r:embed="rId3"/>
          <a:stretch>
            <a:fillRect/>
          </a:stretch>
        </p:blipFill>
        <p:spPr>
          <a:xfrm>
            <a:off x="3287851" y="1022836"/>
            <a:ext cx="8054697" cy="6673810"/>
          </a:xfrm>
          <a:prstGeom prst="rect">
            <a:avLst/>
          </a:prstGeom>
        </p:spPr>
      </p:pic>
      <p:sp>
        <p:nvSpPr>
          <p:cNvPr id="4" name="Rectangle 3">
            <a:extLst>
              <a:ext uri="{FF2B5EF4-FFF2-40B4-BE49-F238E27FC236}">
                <a16:creationId xmlns:a16="http://schemas.microsoft.com/office/drawing/2014/main" id="{48ABE66F-216F-A825-950D-852E7C5D2381}"/>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74621" y="786051"/>
            <a:ext cx="5423297" cy="650915"/>
          </a:xfrm>
          <a:prstGeom prst="rect">
            <a:avLst/>
          </a:prstGeom>
          <a:noFill/>
          <a:ln/>
        </p:spPr>
        <p:txBody>
          <a:bodyPr wrap="none" lIns="0" tIns="0" rIns="0" bIns="0" rtlCol="0" anchor="t"/>
          <a:lstStyle/>
          <a:p>
            <a:pPr marL="0" indent="0" algn="l">
              <a:lnSpc>
                <a:spcPts val="5100"/>
              </a:lnSpc>
              <a:buNone/>
            </a:pPr>
            <a:r>
              <a:rPr lang="en-US" sz="4100" dirty="0">
                <a:solidFill>
                  <a:srgbClr val="FFFFFF"/>
                </a:solidFill>
                <a:latin typeface="Unbounded" pitchFamily="34" charset="0"/>
                <a:ea typeface="Unbounded" pitchFamily="34" charset="-122"/>
                <a:cs typeface="Unbounded" pitchFamily="34" charset="-120"/>
              </a:rPr>
              <a:t>System Overview</a:t>
            </a:r>
            <a:endParaRPr lang="en-US" sz="4100" dirty="0"/>
          </a:p>
        </p:txBody>
      </p:sp>
      <p:sp>
        <p:nvSpPr>
          <p:cNvPr id="3" name="Shape 1"/>
          <p:cNvSpPr/>
          <p:nvPr/>
        </p:nvSpPr>
        <p:spPr>
          <a:xfrm>
            <a:off x="774621" y="1879640"/>
            <a:ext cx="4212788" cy="3025378"/>
          </a:xfrm>
          <a:prstGeom prst="roundRect">
            <a:avLst>
              <a:gd name="adj" fmla="val 1097"/>
            </a:avLst>
          </a:prstGeom>
          <a:solidFill>
            <a:srgbClr val="304755"/>
          </a:solidFill>
          <a:ln/>
        </p:spPr>
      </p:sp>
      <p:sp>
        <p:nvSpPr>
          <p:cNvPr id="4" name="Text 2"/>
          <p:cNvSpPr/>
          <p:nvPr/>
        </p:nvSpPr>
        <p:spPr>
          <a:xfrm>
            <a:off x="995958" y="2100977"/>
            <a:ext cx="2847975" cy="325398"/>
          </a:xfrm>
          <a:prstGeom prst="rect">
            <a:avLst/>
          </a:prstGeom>
          <a:noFill/>
          <a:ln/>
        </p:spPr>
        <p:txBody>
          <a:bodyPr wrap="none" lIns="0" tIns="0" rIns="0" bIns="0" rtlCol="0" anchor="t"/>
          <a:lstStyle/>
          <a:p>
            <a:pPr marL="0" indent="0" algn="l">
              <a:lnSpc>
                <a:spcPts val="2550"/>
              </a:lnSpc>
              <a:buNone/>
            </a:pPr>
            <a:r>
              <a:rPr lang="en-US" sz="2050" dirty="0">
                <a:solidFill>
                  <a:srgbClr val="CAD6DE"/>
                </a:solidFill>
                <a:latin typeface="Unbounded" pitchFamily="34" charset="0"/>
                <a:ea typeface="Unbounded" pitchFamily="34" charset="-122"/>
                <a:cs typeface="Unbounded" pitchFamily="34" charset="-120"/>
              </a:rPr>
              <a:t>Flutter Mobile App</a:t>
            </a:r>
            <a:endParaRPr lang="en-US" sz="2050" dirty="0"/>
          </a:p>
        </p:txBody>
      </p:sp>
      <p:sp>
        <p:nvSpPr>
          <p:cNvPr id="5" name="Text 3"/>
          <p:cNvSpPr/>
          <p:nvPr/>
        </p:nvSpPr>
        <p:spPr>
          <a:xfrm>
            <a:off x="995958" y="2559129"/>
            <a:ext cx="3770114" cy="1416368"/>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A Flutter-based mobile app that uses ARCore/ARKit to detect planes, capture leaf images, and overlay live disease labels and confidence scores.</a:t>
            </a:r>
            <a:endParaRPr lang="en-US" sz="1700" dirty="0"/>
          </a:p>
        </p:txBody>
      </p:sp>
      <p:sp>
        <p:nvSpPr>
          <p:cNvPr id="6" name="Shape 4"/>
          <p:cNvSpPr/>
          <p:nvPr/>
        </p:nvSpPr>
        <p:spPr>
          <a:xfrm>
            <a:off x="5208746" y="1879640"/>
            <a:ext cx="4212788" cy="3025378"/>
          </a:xfrm>
          <a:prstGeom prst="roundRect">
            <a:avLst>
              <a:gd name="adj" fmla="val 1097"/>
            </a:avLst>
          </a:prstGeom>
          <a:solidFill>
            <a:srgbClr val="304755"/>
          </a:solidFill>
          <a:ln/>
        </p:spPr>
      </p:sp>
      <p:sp>
        <p:nvSpPr>
          <p:cNvPr id="7" name="Text 5"/>
          <p:cNvSpPr/>
          <p:nvPr/>
        </p:nvSpPr>
        <p:spPr>
          <a:xfrm>
            <a:off x="5430083" y="2100977"/>
            <a:ext cx="2604016" cy="325398"/>
          </a:xfrm>
          <a:prstGeom prst="rect">
            <a:avLst/>
          </a:prstGeom>
          <a:noFill/>
          <a:ln/>
        </p:spPr>
        <p:txBody>
          <a:bodyPr wrap="none" lIns="0" tIns="0" rIns="0" bIns="0" rtlCol="0" anchor="t"/>
          <a:lstStyle/>
          <a:p>
            <a:pPr marL="0" indent="0" algn="l">
              <a:lnSpc>
                <a:spcPts val="2550"/>
              </a:lnSpc>
              <a:buNone/>
            </a:pPr>
            <a:r>
              <a:rPr lang="en-US" sz="2050" dirty="0">
                <a:solidFill>
                  <a:srgbClr val="CAD6DE"/>
                </a:solidFill>
                <a:latin typeface="Unbounded" pitchFamily="34" charset="0"/>
                <a:ea typeface="Unbounded" pitchFamily="34" charset="-122"/>
                <a:cs typeface="Unbounded" pitchFamily="34" charset="-120"/>
              </a:rPr>
              <a:t>Flask Backend</a:t>
            </a:r>
            <a:endParaRPr lang="en-US" sz="2050" dirty="0"/>
          </a:p>
        </p:txBody>
      </p:sp>
      <p:sp>
        <p:nvSpPr>
          <p:cNvPr id="8" name="Text 6"/>
          <p:cNvSpPr/>
          <p:nvPr/>
        </p:nvSpPr>
        <p:spPr>
          <a:xfrm>
            <a:off x="5430083" y="2559129"/>
            <a:ext cx="3770114" cy="2124551"/>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A lightweight Flask/Python backend exposing three REST endpoints—/plantdisease, /croprecommendation, and /sensor—that power server-side PyTorch inference, AI crop ranking, and IoT-style sensor simulation.</a:t>
            </a:r>
            <a:endParaRPr lang="en-US" sz="1700" dirty="0"/>
          </a:p>
        </p:txBody>
      </p:sp>
      <p:sp>
        <p:nvSpPr>
          <p:cNvPr id="9" name="Shape 7"/>
          <p:cNvSpPr/>
          <p:nvPr/>
        </p:nvSpPr>
        <p:spPr>
          <a:xfrm>
            <a:off x="9642872" y="1879640"/>
            <a:ext cx="4212908" cy="3025378"/>
          </a:xfrm>
          <a:prstGeom prst="roundRect">
            <a:avLst>
              <a:gd name="adj" fmla="val 1097"/>
            </a:avLst>
          </a:prstGeom>
          <a:solidFill>
            <a:srgbClr val="304755"/>
          </a:solidFill>
          <a:ln/>
        </p:spPr>
      </p:sp>
      <p:sp>
        <p:nvSpPr>
          <p:cNvPr id="10" name="Text 8"/>
          <p:cNvSpPr/>
          <p:nvPr/>
        </p:nvSpPr>
        <p:spPr>
          <a:xfrm>
            <a:off x="9864209" y="2100977"/>
            <a:ext cx="2604016" cy="325398"/>
          </a:xfrm>
          <a:prstGeom prst="rect">
            <a:avLst/>
          </a:prstGeom>
          <a:noFill/>
          <a:ln/>
        </p:spPr>
        <p:txBody>
          <a:bodyPr wrap="none" lIns="0" tIns="0" rIns="0" bIns="0" rtlCol="0" anchor="t"/>
          <a:lstStyle/>
          <a:p>
            <a:pPr marL="0" indent="0" algn="l">
              <a:lnSpc>
                <a:spcPts val="2550"/>
              </a:lnSpc>
              <a:buNone/>
            </a:pPr>
            <a:r>
              <a:rPr lang="en-US" sz="2050" dirty="0">
                <a:solidFill>
                  <a:srgbClr val="CAD6DE"/>
                </a:solidFill>
                <a:latin typeface="Unbounded" pitchFamily="34" charset="0"/>
                <a:ea typeface="Unbounded" pitchFamily="34" charset="-122"/>
                <a:cs typeface="Unbounded" pitchFamily="34" charset="-120"/>
              </a:rPr>
              <a:t>Domain Services</a:t>
            </a:r>
            <a:endParaRPr lang="en-US" sz="2050" dirty="0"/>
          </a:p>
        </p:txBody>
      </p:sp>
      <p:sp>
        <p:nvSpPr>
          <p:cNvPr id="11" name="Text 9"/>
          <p:cNvSpPr/>
          <p:nvPr/>
        </p:nvSpPr>
        <p:spPr>
          <a:xfrm>
            <a:off x="9864209" y="2559129"/>
            <a:ext cx="3770233" cy="2124551"/>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Domain services in the client (PlantDiseaseService, CropRecService, SensorService) orchestrate user flows, invoke HTTP calls, parse JSON results, and cache data locally for offline resilience.</a:t>
            </a:r>
            <a:endParaRPr lang="en-US" sz="1700" dirty="0"/>
          </a:p>
        </p:txBody>
      </p:sp>
      <p:sp>
        <p:nvSpPr>
          <p:cNvPr id="12" name="Shape 10"/>
          <p:cNvSpPr/>
          <p:nvPr/>
        </p:nvSpPr>
        <p:spPr>
          <a:xfrm>
            <a:off x="774621" y="5126355"/>
            <a:ext cx="6429851" cy="2317194"/>
          </a:xfrm>
          <a:prstGeom prst="roundRect">
            <a:avLst>
              <a:gd name="adj" fmla="val 1433"/>
            </a:avLst>
          </a:prstGeom>
          <a:solidFill>
            <a:srgbClr val="304755"/>
          </a:solidFill>
          <a:ln/>
        </p:spPr>
      </p:sp>
      <p:sp>
        <p:nvSpPr>
          <p:cNvPr id="13" name="Text 11"/>
          <p:cNvSpPr/>
          <p:nvPr/>
        </p:nvSpPr>
        <p:spPr>
          <a:xfrm>
            <a:off x="995958" y="5347692"/>
            <a:ext cx="2604016" cy="325398"/>
          </a:xfrm>
          <a:prstGeom prst="rect">
            <a:avLst/>
          </a:prstGeom>
          <a:noFill/>
          <a:ln/>
        </p:spPr>
        <p:txBody>
          <a:bodyPr wrap="none" lIns="0" tIns="0" rIns="0" bIns="0" rtlCol="0" anchor="t"/>
          <a:lstStyle/>
          <a:p>
            <a:pPr marL="0" indent="0" algn="l">
              <a:lnSpc>
                <a:spcPts val="2550"/>
              </a:lnSpc>
              <a:buNone/>
            </a:pPr>
            <a:r>
              <a:rPr lang="en-US" sz="2050" dirty="0">
                <a:solidFill>
                  <a:srgbClr val="CAD6DE"/>
                </a:solidFill>
                <a:latin typeface="Unbounded" pitchFamily="34" charset="0"/>
                <a:ea typeface="Unbounded" pitchFamily="34" charset="-122"/>
                <a:cs typeface="Unbounded" pitchFamily="34" charset="-120"/>
              </a:rPr>
              <a:t>IoT Dashboard</a:t>
            </a:r>
            <a:endParaRPr lang="en-US" sz="2050" dirty="0"/>
          </a:p>
        </p:txBody>
      </p:sp>
      <p:sp>
        <p:nvSpPr>
          <p:cNvPr id="14" name="Text 12"/>
          <p:cNvSpPr/>
          <p:nvPr/>
        </p:nvSpPr>
        <p:spPr>
          <a:xfrm>
            <a:off x="995958" y="5805845"/>
            <a:ext cx="5987177" cy="1062276"/>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An IoT-inspired dashboard polls NPK and humidity readings at configurable intervals, displays gauges and sparklines, and issues alerts when thresholds are crossed.</a:t>
            </a:r>
            <a:endParaRPr lang="en-US" sz="1700" dirty="0"/>
          </a:p>
        </p:txBody>
      </p:sp>
      <p:sp>
        <p:nvSpPr>
          <p:cNvPr id="15" name="Shape 13"/>
          <p:cNvSpPr/>
          <p:nvPr/>
        </p:nvSpPr>
        <p:spPr>
          <a:xfrm>
            <a:off x="7425809" y="5126355"/>
            <a:ext cx="6429970" cy="2317194"/>
          </a:xfrm>
          <a:prstGeom prst="roundRect">
            <a:avLst>
              <a:gd name="adj" fmla="val 1433"/>
            </a:avLst>
          </a:prstGeom>
          <a:solidFill>
            <a:srgbClr val="304755"/>
          </a:solidFill>
          <a:ln/>
        </p:spPr>
      </p:sp>
      <p:sp>
        <p:nvSpPr>
          <p:cNvPr id="16" name="Text 14"/>
          <p:cNvSpPr/>
          <p:nvPr/>
        </p:nvSpPr>
        <p:spPr>
          <a:xfrm>
            <a:off x="7647146" y="5347692"/>
            <a:ext cx="3128724" cy="325398"/>
          </a:xfrm>
          <a:prstGeom prst="rect">
            <a:avLst/>
          </a:prstGeom>
          <a:noFill/>
          <a:ln/>
        </p:spPr>
        <p:txBody>
          <a:bodyPr wrap="none" lIns="0" tIns="0" rIns="0" bIns="0" rtlCol="0" anchor="t"/>
          <a:lstStyle/>
          <a:p>
            <a:pPr marL="0" indent="0" algn="l">
              <a:lnSpc>
                <a:spcPts val="2550"/>
              </a:lnSpc>
              <a:buNone/>
            </a:pPr>
            <a:r>
              <a:rPr lang="en-US" sz="2050" dirty="0">
                <a:solidFill>
                  <a:srgbClr val="CAD6DE"/>
                </a:solidFill>
                <a:latin typeface="Unbounded" pitchFamily="34" charset="0"/>
                <a:ea typeface="Unbounded" pitchFamily="34" charset="-122"/>
                <a:cs typeface="Unbounded" pitchFamily="34" charset="-120"/>
              </a:rPr>
              <a:t>Integrated Features</a:t>
            </a:r>
            <a:endParaRPr lang="en-US" sz="2050" dirty="0"/>
          </a:p>
        </p:txBody>
      </p:sp>
      <p:sp>
        <p:nvSpPr>
          <p:cNvPr id="17" name="Text 15"/>
          <p:cNvSpPr/>
          <p:nvPr/>
        </p:nvSpPr>
        <p:spPr>
          <a:xfrm>
            <a:off x="7647146" y="5805845"/>
            <a:ext cx="5987296" cy="1416368"/>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Integrated market listings and agri-news feeds fetched from external APIs, combined with a searchable plant/animal directory, give farmers a one-stop decision-support tool—built end-to-end in a 48-hour hackathon.</a:t>
            </a:r>
            <a:endParaRPr lang="en-US" sz="1700" dirty="0"/>
          </a:p>
        </p:txBody>
      </p:sp>
      <p:sp>
        <p:nvSpPr>
          <p:cNvPr id="18" name="Rectangle 17">
            <a:extLst>
              <a:ext uri="{FF2B5EF4-FFF2-40B4-BE49-F238E27FC236}">
                <a16:creationId xmlns:a16="http://schemas.microsoft.com/office/drawing/2014/main" id="{AE1BDB95-FF18-C073-8F8C-0F92F8647D89}"/>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6522" y="586502"/>
            <a:ext cx="6438781" cy="627221"/>
          </a:xfrm>
          <a:prstGeom prst="rect">
            <a:avLst/>
          </a:prstGeom>
          <a:noFill/>
          <a:ln/>
        </p:spPr>
        <p:txBody>
          <a:bodyPr wrap="none" lIns="0" tIns="0" rIns="0" bIns="0" rtlCol="0" anchor="t"/>
          <a:lstStyle/>
          <a:p>
            <a:pPr marL="0" indent="0" algn="l">
              <a:lnSpc>
                <a:spcPts val="4900"/>
              </a:lnSpc>
              <a:buNone/>
            </a:pPr>
            <a:r>
              <a:rPr lang="en-US" sz="3950" dirty="0">
                <a:solidFill>
                  <a:srgbClr val="FFFFFF"/>
                </a:solidFill>
                <a:latin typeface="Unbounded" pitchFamily="34" charset="0"/>
                <a:ea typeface="Unbounded" pitchFamily="34" charset="-122"/>
                <a:cs typeface="Unbounded" pitchFamily="34" charset="-120"/>
              </a:rPr>
              <a:t>Design Consideration</a:t>
            </a:r>
            <a:endParaRPr lang="en-US" sz="3950" dirty="0"/>
          </a:p>
        </p:txBody>
      </p:sp>
      <p:pic>
        <p:nvPicPr>
          <p:cNvPr id="3" name="Image 0" descr="preencoded.png"/>
          <p:cNvPicPr>
            <a:picLocks noChangeAspect="1"/>
          </p:cNvPicPr>
          <p:nvPr/>
        </p:nvPicPr>
        <p:blipFill>
          <a:blip r:embed="rId3"/>
          <a:stretch>
            <a:fillRect/>
          </a:stretch>
        </p:blipFill>
        <p:spPr>
          <a:xfrm>
            <a:off x="3534132" y="1640324"/>
            <a:ext cx="7562017" cy="6002893"/>
          </a:xfrm>
          <a:prstGeom prst="rect">
            <a:avLst/>
          </a:prstGeom>
        </p:spPr>
      </p:pic>
      <p:sp>
        <p:nvSpPr>
          <p:cNvPr id="4" name="Text 1"/>
          <p:cNvSpPr/>
          <p:nvPr/>
        </p:nvSpPr>
        <p:spPr>
          <a:xfrm>
            <a:off x="6625703" y="4322574"/>
            <a:ext cx="1358959" cy="584532"/>
          </a:xfrm>
          <a:prstGeom prst="rect">
            <a:avLst/>
          </a:prstGeom>
          <a:noFill/>
          <a:ln/>
        </p:spPr>
        <p:txBody>
          <a:bodyPr wrap="square" lIns="0" tIns="0" rIns="0" bIns="0" rtlCol="0" anchor="t"/>
          <a:lstStyle/>
          <a:p>
            <a:pPr marL="0" indent="0" algn="ctr">
              <a:lnSpc>
                <a:spcPts val="1550"/>
              </a:lnSpc>
              <a:buNone/>
            </a:pPr>
            <a:r>
              <a:rPr lang="en-US" sz="1250" dirty="0">
                <a:solidFill>
                  <a:srgbClr val="FFFFFF"/>
                </a:solidFill>
                <a:latin typeface="Unbounded" pitchFamily="34" charset="0"/>
                <a:ea typeface="Unbounded" pitchFamily="34" charset="-122"/>
                <a:cs typeface="Unbounded" pitchFamily="34" charset="-120"/>
              </a:rPr>
              <a:t>Core App Features</a:t>
            </a:r>
            <a:endParaRPr lang="en-US" sz="1250" dirty="0"/>
          </a:p>
        </p:txBody>
      </p:sp>
      <p:sp>
        <p:nvSpPr>
          <p:cNvPr id="5" name="Text 2"/>
          <p:cNvSpPr/>
          <p:nvPr/>
        </p:nvSpPr>
        <p:spPr>
          <a:xfrm>
            <a:off x="7962565" y="1955272"/>
            <a:ext cx="2021694" cy="584532"/>
          </a:xfrm>
          <a:prstGeom prst="rect">
            <a:avLst/>
          </a:prstGeom>
          <a:noFill/>
          <a:ln/>
        </p:spPr>
        <p:txBody>
          <a:bodyPr wrap="square" lIns="0" tIns="0" rIns="0" bIns="0" rtlCol="0" anchor="t"/>
          <a:lstStyle/>
          <a:p>
            <a:pPr marL="0" indent="0" algn="ctr">
              <a:lnSpc>
                <a:spcPts val="1550"/>
              </a:lnSpc>
              <a:buNone/>
            </a:pPr>
            <a:r>
              <a:rPr lang="en-US" sz="1250" dirty="0">
                <a:solidFill>
                  <a:srgbClr val="CAD6DE"/>
                </a:solidFill>
                <a:latin typeface="Unbounded" pitchFamily="34" charset="0"/>
                <a:ea typeface="Unbounded" pitchFamily="34" charset="-122"/>
                <a:cs typeface="Unbounded" pitchFamily="34" charset="-120"/>
              </a:rPr>
              <a:t>Platform &amp; Device</a:t>
            </a:r>
            <a:endParaRPr lang="en-US" sz="1250" dirty="0"/>
          </a:p>
        </p:txBody>
      </p:sp>
      <p:sp>
        <p:nvSpPr>
          <p:cNvPr id="6" name="Text 3"/>
          <p:cNvSpPr/>
          <p:nvPr/>
        </p:nvSpPr>
        <p:spPr>
          <a:xfrm>
            <a:off x="7962565" y="2628191"/>
            <a:ext cx="2021694" cy="745770"/>
          </a:xfrm>
          <a:prstGeom prst="rect">
            <a:avLst/>
          </a:prstGeom>
          <a:noFill/>
          <a:ln/>
        </p:spPr>
        <p:txBody>
          <a:bodyPr wrap="square" lIns="0" tIns="0" rIns="0" bIns="0" rtlCol="0" anchor="t"/>
          <a:lstStyle/>
          <a:p>
            <a:pPr marL="0" indent="0" algn="ctr">
              <a:lnSpc>
                <a:spcPts val="1350"/>
              </a:lnSpc>
              <a:buNone/>
            </a:pPr>
            <a:r>
              <a:rPr lang="en-US" sz="1050" dirty="0">
                <a:solidFill>
                  <a:srgbClr val="CAD6DE"/>
                </a:solidFill>
                <a:latin typeface="Cabin" pitchFamily="34" charset="0"/>
                <a:ea typeface="Cabin" pitchFamily="34" charset="-122"/>
                <a:cs typeface="Cabin" pitchFamily="34" charset="-120"/>
              </a:rPr>
              <a:t>Cross-platform compatibility for all user devices.</a:t>
            </a:r>
            <a:endParaRPr lang="en-US" sz="1050" dirty="0"/>
          </a:p>
        </p:txBody>
      </p:sp>
      <p:sp>
        <p:nvSpPr>
          <p:cNvPr id="7" name="Text 4"/>
          <p:cNvSpPr/>
          <p:nvPr/>
        </p:nvSpPr>
        <p:spPr>
          <a:xfrm>
            <a:off x="4592789" y="1955272"/>
            <a:ext cx="2021693" cy="584532"/>
          </a:xfrm>
          <a:prstGeom prst="rect">
            <a:avLst/>
          </a:prstGeom>
          <a:noFill/>
          <a:ln/>
        </p:spPr>
        <p:txBody>
          <a:bodyPr wrap="square" lIns="0" tIns="0" rIns="0" bIns="0" rtlCol="0" anchor="t"/>
          <a:lstStyle/>
          <a:p>
            <a:pPr marL="0" indent="0" algn="ctr">
              <a:lnSpc>
                <a:spcPts val="1550"/>
              </a:lnSpc>
              <a:buNone/>
            </a:pPr>
            <a:r>
              <a:rPr lang="en-US" sz="1250" dirty="0">
                <a:solidFill>
                  <a:srgbClr val="CAD6DE"/>
                </a:solidFill>
                <a:latin typeface="Unbounded" pitchFamily="34" charset="0"/>
                <a:ea typeface="Unbounded" pitchFamily="34" charset="-122"/>
                <a:cs typeface="Unbounded" pitchFamily="34" charset="-120"/>
              </a:rPr>
              <a:t>Real-Time Performance</a:t>
            </a:r>
            <a:endParaRPr lang="en-US" sz="1250" dirty="0"/>
          </a:p>
        </p:txBody>
      </p:sp>
      <p:sp>
        <p:nvSpPr>
          <p:cNvPr id="8" name="Text 5"/>
          <p:cNvSpPr/>
          <p:nvPr/>
        </p:nvSpPr>
        <p:spPr>
          <a:xfrm>
            <a:off x="4592789" y="2628191"/>
            <a:ext cx="2021693" cy="745770"/>
          </a:xfrm>
          <a:prstGeom prst="rect">
            <a:avLst/>
          </a:prstGeom>
          <a:noFill/>
          <a:ln/>
        </p:spPr>
        <p:txBody>
          <a:bodyPr wrap="square" lIns="0" tIns="0" rIns="0" bIns="0" rtlCol="0" anchor="t"/>
          <a:lstStyle/>
          <a:p>
            <a:pPr marL="0" indent="0" algn="ctr">
              <a:lnSpc>
                <a:spcPts val="1350"/>
              </a:lnSpc>
              <a:buNone/>
            </a:pPr>
            <a:r>
              <a:rPr lang="en-US" sz="1050" dirty="0">
                <a:solidFill>
                  <a:srgbClr val="CAD6DE"/>
                </a:solidFill>
                <a:latin typeface="Cabin" pitchFamily="34" charset="0"/>
                <a:ea typeface="Cabin" pitchFamily="34" charset="-122"/>
                <a:cs typeface="Cabin" pitchFamily="34" charset="-120"/>
              </a:rPr>
              <a:t>Optimized for speed and immediate response.</a:t>
            </a:r>
            <a:endParaRPr lang="en-US" sz="1050" dirty="0"/>
          </a:p>
        </p:txBody>
      </p:sp>
      <p:sp>
        <p:nvSpPr>
          <p:cNvPr id="9" name="Text 6"/>
          <p:cNvSpPr/>
          <p:nvPr/>
        </p:nvSpPr>
        <p:spPr>
          <a:xfrm>
            <a:off x="4592789" y="5899567"/>
            <a:ext cx="2021693" cy="584532"/>
          </a:xfrm>
          <a:prstGeom prst="rect">
            <a:avLst/>
          </a:prstGeom>
          <a:noFill/>
          <a:ln/>
        </p:spPr>
        <p:txBody>
          <a:bodyPr wrap="square" lIns="0" tIns="0" rIns="0" bIns="0" rtlCol="0" anchor="t"/>
          <a:lstStyle/>
          <a:p>
            <a:pPr marL="0" indent="0" algn="ctr">
              <a:lnSpc>
                <a:spcPts val="1550"/>
              </a:lnSpc>
              <a:buNone/>
            </a:pPr>
            <a:r>
              <a:rPr lang="en-US" sz="1250" dirty="0">
                <a:solidFill>
                  <a:srgbClr val="CAD6DE"/>
                </a:solidFill>
                <a:latin typeface="Unbounded" pitchFamily="34" charset="0"/>
                <a:ea typeface="Unbounded" pitchFamily="34" charset="-122"/>
                <a:cs typeface="Unbounded" pitchFamily="34" charset="-120"/>
              </a:rPr>
              <a:t>Security &amp; Privacy</a:t>
            </a:r>
            <a:endParaRPr lang="en-US" sz="1250" dirty="0"/>
          </a:p>
        </p:txBody>
      </p:sp>
      <p:sp>
        <p:nvSpPr>
          <p:cNvPr id="10" name="Text 7"/>
          <p:cNvSpPr/>
          <p:nvPr/>
        </p:nvSpPr>
        <p:spPr>
          <a:xfrm>
            <a:off x="4592789" y="6572487"/>
            <a:ext cx="2021693" cy="745770"/>
          </a:xfrm>
          <a:prstGeom prst="rect">
            <a:avLst/>
          </a:prstGeom>
          <a:noFill/>
          <a:ln/>
        </p:spPr>
        <p:txBody>
          <a:bodyPr wrap="square" lIns="0" tIns="0" rIns="0" bIns="0" rtlCol="0" anchor="t"/>
          <a:lstStyle/>
          <a:p>
            <a:pPr marL="0" indent="0" algn="ctr">
              <a:lnSpc>
                <a:spcPts val="1350"/>
              </a:lnSpc>
              <a:buNone/>
            </a:pPr>
            <a:r>
              <a:rPr lang="en-US" sz="1050" dirty="0">
                <a:solidFill>
                  <a:srgbClr val="CAD6DE"/>
                </a:solidFill>
                <a:latin typeface="Cabin" pitchFamily="34" charset="0"/>
                <a:ea typeface="Cabin" pitchFamily="34" charset="-122"/>
                <a:cs typeface="Cabin" pitchFamily="34" charset="-120"/>
              </a:rPr>
              <a:t>Ensuring functionality without an internet connection.</a:t>
            </a:r>
            <a:endParaRPr lang="en-US" sz="1050" dirty="0"/>
          </a:p>
        </p:txBody>
      </p:sp>
      <p:sp>
        <p:nvSpPr>
          <p:cNvPr id="11" name="Text 8"/>
          <p:cNvSpPr/>
          <p:nvPr/>
        </p:nvSpPr>
        <p:spPr>
          <a:xfrm>
            <a:off x="7962565" y="6484617"/>
            <a:ext cx="2021694" cy="248590"/>
          </a:xfrm>
          <a:prstGeom prst="rect">
            <a:avLst/>
          </a:prstGeom>
          <a:noFill/>
          <a:ln/>
        </p:spPr>
        <p:txBody>
          <a:bodyPr wrap="none" lIns="0" tIns="0" rIns="0" bIns="0" rtlCol="0" anchor="t"/>
          <a:lstStyle/>
          <a:p>
            <a:pPr marL="0" indent="0" algn="ctr">
              <a:lnSpc>
                <a:spcPts val="1350"/>
              </a:lnSpc>
              <a:buNone/>
            </a:pPr>
            <a:r>
              <a:rPr lang="en-US" sz="1250" dirty="0">
                <a:solidFill>
                  <a:srgbClr val="CAD6DE"/>
                </a:solidFill>
                <a:latin typeface="Unbounded" panose="020B0604020202020204" charset="0"/>
                <a:ea typeface="Cabin" pitchFamily="34" charset="-122"/>
                <a:cs typeface="Cabin" pitchFamily="34" charset="-120"/>
              </a:rPr>
              <a:t>Secure &amp; Transitivity</a:t>
            </a:r>
            <a:endParaRPr lang="en-US" sz="1250" dirty="0">
              <a:latin typeface="Unbounded" panose="020B0604020202020204" charset="0"/>
            </a:endParaRPr>
          </a:p>
        </p:txBody>
      </p:sp>
      <p:sp>
        <p:nvSpPr>
          <p:cNvPr id="12" name="Text 9"/>
          <p:cNvSpPr/>
          <p:nvPr/>
        </p:nvSpPr>
        <p:spPr>
          <a:xfrm>
            <a:off x="8691763" y="3899798"/>
            <a:ext cx="2065887" cy="584532"/>
          </a:xfrm>
          <a:prstGeom prst="rect">
            <a:avLst/>
          </a:prstGeom>
          <a:noFill/>
          <a:ln/>
        </p:spPr>
        <p:txBody>
          <a:bodyPr wrap="square" lIns="0" tIns="0" rIns="0" bIns="0" rtlCol="0" anchor="t"/>
          <a:lstStyle/>
          <a:p>
            <a:pPr marL="0" indent="0" algn="ctr">
              <a:lnSpc>
                <a:spcPts val="1550"/>
              </a:lnSpc>
              <a:buNone/>
            </a:pPr>
            <a:r>
              <a:rPr lang="en-US" sz="1250" dirty="0">
                <a:solidFill>
                  <a:srgbClr val="CAD6DE"/>
                </a:solidFill>
                <a:latin typeface="Unbounded" pitchFamily="34" charset="0"/>
                <a:ea typeface="Unbounded" pitchFamily="34" charset="-122"/>
                <a:cs typeface="Unbounded" pitchFamily="34" charset="-120"/>
              </a:rPr>
              <a:t>Offline Resilience</a:t>
            </a:r>
            <a:endParaRPr lang="en-US" sz="1250" dirty="0"/>
          </a:p>
        </p:txBody>
      </p:sp>
      <p:sp>
        <p:nvSpPr>
          <p:cNvPr id="13" name="Text 10"/>
          <p:cNvSpPr/>
          <p:nvPr/>
        </p:nvSpPr>
        <p:spPr>
          <a:xfrm>
            <a:off x="8691763" y="4572718"/>
            <a:ext cx="2065887" cy="745770"/>
          </a:xfrm>
          <a:prstGeom prst="rect">
            <a:avLst/>
          </a:prstGeom>
          <a:noFill/>
          <a:ln/>
        </p:spPr>
        <p:txBody>
          <a:bodyPr wrap="square" lIns="0" tIns="0" rIns="0" bIns="0" rtlCol="0" anchor="t"/>
          <a:lstStyle/>
          <a:p>
            <a:pPr marL="0" indent="0" algn="ctr">
              <a:lnSpc>
                <a:spcPts val="1350"/>
              </a:lnSpc>
              <a:buNone/>
            </a:pPr>
            <a:r>
              <a:rPr lang="en-US" sz="1050" dirty="0">
                <a:solidFill>
                  <a:srgbClr val="CAD6DE"/>
                </a:solidFill>
                <a:latin typeface="Cabin" pitchFamily="34" charset="0"/>
                <a:ea typeface="Cabin" pitchFamily="34" charset="-122"/>
                <a:cs typeface="Cabin" pitchFamily="34" charset="-120"/>
              </a:rPr>
              <a:t>Ensuring functionality without an internet connection.</a:t>
            </a:r>
            <a:endParaRPr lang="en-US" sz="1050" dirty="0"/>
          </a:p>
        </p:txBody>
      </p:sp>
      <p:sp>
        <p:nvSpPr>
          <p:cNvPr id="14" name="Text 11"/>
          <p:cNvSpPr/>
          <p:nvPr/>
        </p:nvSpPr>
        <p:spPr>
          <a:xfrm>
            <a:off x="3852543" y="4495897"/>
            <a:ext cx="2065887" cy="248590"/>
          </a:xfrm>
          <a:prstGeom prst="rect">
            <a:avLst/>
          </a:prstGeom>
          <a:noFill/>
          <a:ln/>
        </p:spPr>
        <p:txBody>
          <a:bodyPr wrap="none" lIns="0" tIns="0" rIns="0" bIns="0" rtlCol="0" anchor="t"/>
          <a:lstStyle/>
          <a:p>
            <a:pPr marL="0" indent="0" algn="ctr">
              <a:lnSpc>
                <a:spcPts val="1350"/>
              </a:lnSpc>
              <a:buNone/>
            </a:pPr>
            <a:r>
              <a:rPr lang="en-US" sz="1250" dirty="0">
                <a:solidFill>
                  <a:srgbClr val="CAD6DE"/>
                </a:solidFill>
                <a:latin typeface="Unbounded" panose="020B0604020202020204" charset="0"/>
              </a:rPr>
              <a:t>Modularity &amp; </a:t>
            </a:r>
          </a:p>
          <a:p>
            <a:pPr marL="0" indent="0" algn="ctr">
              <a:lnSpc>
                <a:spcPts val="1350"/>
              </a:lnSpc>
              <a:buNone/>
            </a:pPr>
            <a:r>
              <a:rPr lang="en-US" sz="1250" dirty="0">
                <a:solidFill>
                  <a:srgbClr val="CAD6DE"/>
                </a:solidFill>
                <a:latin typeface="Unbounded" panose="020B0604020202020204" charset="0"/>
              </a:rPr>
              <a:t>Maintenance</a:t>
            </a:r>
            <a:endParaRPr lang="en-US" sz="1250" dirty="0">
              <a:latin typeface="Unbounded" panose="020B0604020202020204" charset="0"/>
            </a:endParaRPr>
          </a:p>
        </p:txBody>
      </p:sp>
      <p:sp>
        <p:nvSpPr>
          <p:cNvPr id="15" name="Rectangle 14">
            <a:extLst>
              <a:ext uri="{FF2B5EF4-FFF2-40B4-BE49-F238E27FC236}">
                <a16:creationId xmlns:a16="http://schemas.microsoft.com/office/drawing/2014/main" id="{081636BF-9755-85AA-A1DE-DADCCCD72340}"/>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181CE0-5E51-57FB-F935-534A5CDABA11}"/>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
        <p:nvSpPr>
          <p:cNvPr id="2" name="Text 0"/>
          <p:cNvSpPr/>
          <p:nvPr/>
        </p:nvSpPr>
        <p:spPr>
          <a:xfrm>
            <a:off x="630555" y="495419"/>
            <a:ext cx="5994797" cy="529947"/>
          </a:xfrm>
          <a:prstGeom prst="rect">
            <a:avLst/>
          </a:prstGeom>
          <a:noFill/>
          <a:ln/>
        </p:spPr>
        <p:txBody>
          <a:bodyPr wrap="none" lIns="0" tIns="0" rIns="0" bIns="0" rtlCol="0" anchor="t"/>
          <a:lstStyle/>
          <a:p>
            <a:pPr marL="0" indent="0" algn="l">
              <a:lnSpc>
                <a:spcPts val="4150"/>
              </a:lnSpc>
              <a:buNone/>
            </a:pPr>
            <a:r>
              <a:rPr lang="en-US" sz="3300" dirty="0">
                <a:solidFill>
                  <a:srgbClr val="FFFFFF"/>
                </a:solidFill>
                <a:latin typeface="Unbounded" pitchFamily="34" charset="0"/>
                <a:ea typeface="Unbounded" pitchFamily="34" charset="-122"/>
                <a:cs typeface="Unbounded" pitchFamily="34" charset="-120"/>
              </a:rPr>
              <a:t>Architecture Strategies</a:t>
            </a:r>
            <a:endParaRPr lang="en-US" sz="3300" dirty="0"/>
          </a:p>
        </p:txBody>
      </p:sp>
      <p:sp>
        <p:nvSpPr>
          <p:cNvPr id="3" name="Shape 1"/>
          <p:cNvSpPr/>
          <p:nvPr/>
        </p:nvSpPr>
        <p:spPr>
          <a:xfrm>
            <a:off x="630555" y="1385649"/>
            <a:ext cx="13369290" cy="1814513"/>
          </a:xfrm>
          <a:prstGeom prst="roundRect">
            <a:avLst>
              <a:gd name="adj" fmla="val 1490"/>
            </a:avLst>
          </a:prstGeom>
          <a:solidFill>
            <a:srgbClr val="112836"/>
          </a:solidFill>
          <a:ln w="22860">
            <a:solidFill>
              <a:srgbClr val="49606E"/>
            </a:solidFill>
            <a:prstDash val="solid"/>
          </a:ln>
        </p:spPr>
      </p:sp>
      <p:sp>
        <p:nvSpPr>
          <p:cNvPr id="4" name="Shape 2"/>
          <p:cNvSpPr/>
          <p:nvPr/>
        </p:nvSpPr>
        <p:spPr>
          <a:xfrm>
            <a:off x="653415" y="1408509"/>
            <a:ext cx="720685" cy="1768793"/>
          </a:xfrm>
          <a:prstGeom prst="rect">
            <a:avLst/>
          </a:prstGeom>
          <a:solidFill>
            <a:srgbClr val="304755"/>
          </a:solidFill>
          <a:ln/>
        </p:spPr>
      </p:sp>
      <p:sp>
        <p:nvSpPr>
          <p:cNvPr id="5" name="Text 3"/>
          <p:cNvSpPr/>
          <p:nvPr/>
        </p:nvSpPr>
        <p:spPr>
          <a:xfrm>
            <a:off x="878562" y="2123956"/>
            <a:ext cx="270272" cy="337780"/>
          </a:xfrm>
          <a:prstGeom prst="rect">
            <a:avLst/>
          </a:prstGeom>
          <a:noFill/>
          <a:ln/>
        </p:spPr>
        <p:txBody>
          <a:bodyPr wrap="none" lIns="0" tIns="0" rIns="0" bIns="0" rtlCol="0" anchor="t"/>
          <a:lstStyle/>
          <a:p>
            <a:pPr marL="0" indent="0" algn="l">
              <a:lnSpc>
                <a:spcPts val="2100"/>
              </a:lnSpc>
              <a:buNone/>
            </a:pPr>
            <a:r>
              <a:rPr lang="en-US" sz="2100" dirty="0">
                <a:solidFill>
                  <a:srgbClr val="CAD6DE"/>
                </a:solidFill>
                <a:latin typeface="Unbounded" pitchFamily="34" charset="0"/>
                <a:ea typeface="Unbounded" pitchFamily="34" charset="-122"/>
                <a:cs typeface="Unbounded" pitchFamily="34" charset="-120"/>
              </a:rPr>
              <a:t>1</a:t>
            </a:r>
            <a:endParaRPr lang="en-US" sz="2100" dirty="0"/>
          </a:p>
        </p:txBody>
      </p:sp>
      <p:sp>
        <p:nvSpPr>
          <p:cNvPr id="6" name="Text 4"/>
          <p:cNvSpPr/>
          <p:nvPr/>
        </p:nvSpPr>
        <p:spPr>
          <a:xfrm>
            <a:off x="1554242" y="1588651"/>
            <a:ext cx="2738557" cy="264914"/>
          </a:xfrm>
          <a:prstGeom prst="rect">
            <a:avLst/>
          </a:prstGeom>
          <a:noFill/>
          <a:ln/>
        </p:spPr>
        <p:txBody>
          <a:bodyPr wrap="none" lIns="0" tIns="0" rIns="0" bIns="0" rtlCol="0" anchor="t"/>
          <a:lstStyle/>
          <a:p>
            <a:pPr marL="0" indent="0" algn="l">
              <a:lnSpc>
                <a:spcPts val="2050"/>
              </a:lnSpc>
              <a:buNone/>
            </a:pPr>
            <a:r>
              <a:rPr lang="en-US" sz="1650" dirty="0">
                <a:solidFill>
                  <a:srgbClr val="CAD6DE"/>
                </a:solidFill>
                <a:latin typeface="Unbounded" pitchFamily="34" charset="0"/>
                <a:ea typeface="Unbounded" pitchFamily="34" charset="-122"/>
                <a:cs typeface="Unbounded" pitchFamily="34" charset="-120"/>
              </a:rPr>
              <a:t>On-Device Processing</a:t>
            </a:r>
            <a:endParaRPr lang="en-US" sz="1650" dirty="0"/>
          </a:p>
        </p:txBody>
      </p:sp>
      <p:sp>
        <p:nvSpPr>
          <p:cNvPr id="7" name="Text 5"/>
          <p:cNvSpPr/>
          <p:nvPr/>
        </p:nvSpPr>
        <p:spPr>
          <a:xfrm>
            <a:off x="1554242" y="1961674"/>
            <a:ext cx="12242602" cy="288131"/>
          </a:xfrm>
          <a:prstGeom prst="rect">
            <a:avLst/>
          </a:prstGeom>
          <a:noFill/>
          <a:ln/>
        </p:spPr>
        <p:txBody>
          <a:bodyPr wrap="none" lIns="0" tIns="0" rIns="0" bIns="0" rtlCol="0" anchor="t"/>
          <a:lstStyle/>
          <a:p>
            <a:pPr marL="0" indent="0" algn="l">
              <a:lnSpc>
                <a:spcPts val="2250"/>
              </a:lnSpc>
              <a:buNone/>
            </a:pPr>
            <a:r>
              <a:rPr lang="en-US" sz="1400" dirty="0">
                <a:solidFill>
                  <a:srgbClr val="CAD6DE"/>
                </a:solidFill>
                <a:latin typeface="Cabin" pitchFamily="34" charset="0"/>
                <a:ea typeface="Cabin" pitchFamily="34" charset="-122"/>
                <a:cs typeface="Cabin" pitchFamily="34" charset="-120"/>
              </a:rPr>
              <a:t>The AI model is stored within the app and runs directly on the phone, eliminating the need for an internet connection for analysis.</a:t>
            </a:r>
            <a:endParaRPr lang="en-US" sz="1400" dirty="0"/>
          </a:p>
        </p:txBody>
      </p:sp>
      <p:sp>
        <p:nvSpPr>
          <p:cNvPr id="8" name="Text 6"/>
          <p:cNvSpPr/>
          <p:nvPr/>
        </p:nvSpPr>
        <p:spPr>
          <a:xfrm>
            <a:off x="1554242" y="2357914"/>
            <a:ext cx="12242602" cy="288131"/>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CAD6DE"/>
                </a:solidFill>
                <a:latin typeface="Cabin" pitchFamily="34" charset="0"/>
                <a:ea typeface="Cabin" pitchFamily="34" charset="-122"/>
                <a:cs typeface="Cabin" pitchFamily="34" charset="-120"/>
              </a:rPr>
              <a:t>Advantage:</a:t>
            </a:r>
            <a:r>
              <a:rPr lang="en-US" sz="1400" dirty="0">
                <a:solidFill>
                  <a:srgbClr val="CAD6DE"/>
                </a:solidFill>
                <a:latin typeface="Cabin" pitchFamily="34" charset="0"/>
                <a:ea typeface="Cabin" pitchFamily="34" charset="-122"/>
                <a:cs typeface="Cabin" pitchFamily="34" charset="-120"/>
              </a:rPr>
              <a:t> Instant results and offline capability.</a:t>
            </a:r>
            <a:endParaRPr lang="en-US" sz="1400" dirty="0"/>
          </a:p>
        </p:txBody>
      </p:sp>
      <p:sp>
        <p:nvSpPr>
          <p:cNvPr id="9" name="Text 7"/>
          <p:cNvSpPr/>
          <p:nvPr/>
        </p:nvSpPr>
        <p:spPr>
          <a:xfrm>
            <a:off x="1554242" y="2709029"/>
            <a:ext cx="12242602" cy="288131"/>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CAD6DE"/>
                </a:solidFill>
                <a:latin typeface="Cabin" pitchFamily="34" charset="0"/>
                <a:ea typeface="Cabin" pitchFamily="34" charset="-122"/>
                <a:cs typeface="Cabin" pitchFamily="34" charset="-120"/>
              </a:rPr>
              <a:t>Disadvantage:</a:t>
            </a:r>
            <a:r>
              <a:rPr lang="en-US" sz="1400" dirty="0">
                <a:solidFill>
                  <a:srgbClr val="CAD6DE"/>
                </a:solidFill>
                <a:latin typeface="Cabin" pitchFamily="34" charset="0"/>
                <a:ea typeface="Cabin" pitchFamily="34" charset="-122"/>
                <a:cs typeface="Cabin" pitchFamily="34" charset="-120"/>
              </a:rPr>
              <a:t> Increased app size, variable performance based on device hardware.</a:t>
            </a:r>
            <a:endParaRPr lang="en-US" sz="1400" dirty="0"/>
          </a:p>
        </p:txBody>
      </p:sp>
      <p:sp>
        <p:nvSpPr>
          <p:cNvPr id="10" name="Shape 8"/>
          <p:cNvSpPr/>
          <p:nvPr/>
        </p:nvSpPr>
        <p:spPr>
          <a:xfrm>
            <a:off x="630555" y="3380303"/>
            <a:ext cx="13369290" cy="1814513"/>
          </a:xfrm>
          <a:prstGeom prst="roundRect">
            <a:avLst>
              <a:gd name="adj" fmla="val 1490"/>
            </a:avLst>
          </a:prstGeom>
          <a:solidFill>
            <a:srgbClr val="112836"/>
          </a:solidFill>
          <a:ln w="22860">
            <a:solidFill>
              <a:srgbClr val="49606E"/>
            </a:solidFill>
            <a:prstDash val="solid"/>
          </a:ln>
        </p:spPr>
      </p:sp>
      <p:sp>
        <p:nvSpPr>
          <p:cNvPr id="11" name="Shape 9"/>
          <p:cNvSpPr/>
          <p:nvPr/>
        </p:nvSpPr>
        <p:spPr>
          <a:xfrm>
            <a:off x="653415" y="3403163"/>
            <a:ext cx="720685" cy="1768793"/>
          </a:xfrm>
          <a:prstGeom prst="rect">
            <a:avLst/>
          </a:prstGeom>
          <a:solidFill>
            <a:srgbClr val="304755"/>
          </a:solidFill>
          <a:ln/>
        </p:spPr>
      </p:sp>
      <p:sp>
        <p:nvSpPr>
          <p:cNvPr id="12" name="Text 10"/>
          <p:cNvSpPr/>
          <p:nvPr/>
        </p:nvSpPr>
        <p:spPr>
          <a:xfrm>
            <a:off x="878562" y="4118610"/>
            <a:ext cx="270272" cy="337780"/>
          </a:xfrm>
          <a:prstGeom prst="rect">
            <a:avLst/>
          </a:prstGeom>
          <a:noFill/>
          <a:ln/>
        </p:spPr>
        <p:txBody>
          <a:bodyPr wrap="none" lIns="0" tIns="0" rIns="0" bIns="0" rtlCol="0" anchor="t"/>
          <a:lstStyle/>
          <a:p>
            <a:pPr marL="0" indent="0" algn="l">
              <a:lnSpc>
                <a:spcPts val="2100"/>
              </a:lnSpc>
              <a:buNone/>
            </a:pPr>
            <a:r>
              <a:rPr lang="en-US" sz="2100" dirty="0">
                <a:solidFill>
                  <a:srgbClr val="CAD6DE"/>
                </a:solidFill>
                <a:latin typeface="Unbounded" pitchFamily="34" charset="0"/>
                <a:ea typeface="Unbounded" pitchFamily="34" charset="-122"/>
                <a:cs typeface="Unbounded" pitchFamily="34" charset="-120"/>
              </a:rPr>
              <a:t>2</a:t>
            </a:r>
            <a:endParaRPr lang="en-US" sz="2100" dirty="0"/>
          </a:p>
        </p:txBody>
      </p:sp>
      <p:sp>
        <p:nvSpPr>
          <p:cNvPr id="13" name="Text 11"/>
          <p:cNvSpPr/>
          <p:nvPr/>
        </p:nvSpPr>
        <p:spPr>
          <a:xfrm>
            <a:off x="1554242" y="3583305"/>
            <a:ext cx="2846784" cy="264914"/>
          </a:xfrm>
          <a:prstGeom prst="rect">
            <a:avLst/>
          </a:prstGeom>
          <a:noFill/>
          <a:ln/>
        </p:spPr>
        <p:txBody>
          <a:bodyPr wrap="none" lIns="0" tIns="0" rIns="0" bIns="0" rtlCol="0" anchor="t"/>
          <a:lstStyle/>
          <a:p>
            <a:pPr marL="0" indent="0" algn="l">
              <a:lnSpc>
                <a:spcPts val="2050"/>
              </a:lnSpc>
              <a:buNone/>
            </a:pPr>
            <a:r>
              <a:rPr lang="en-US" sz="1650" dirty="0">
                <a:solidFill>
                  <a:srgbClr val="CAD6DE"/>
                </a:solidFill>
                <a:latin typeface="Unbounded" pitchFamily="34" charset="0"/>
                <a:ea typeface="Unbounded" pitchFamily="34" charset="-122"/>
                <a:cs typeface="Unbounded" pitchFamily="34" charset="-120"/>
              </a:rPr>
              <a:t>Web-Based App (PWA)</a:t>
            </a:r>
            <a:endParaRPr lang="en-US" sz="1650" dirty="0"/>
          </a:p>
        </p:txBody>
      </p:sp>
      <p:sp>
        <p:nvSpPr>
          <p:cNvPr id="14" name="Text 12"/>
          <p:cNvSpPr/>
          <p:nvPr/>
        </p:nvSpPr>
        <p:spPr>
          <a:xfrm>
            <a:off x="1554242" y="3956328"/>
            <a:ext cx="12242602" cy="288131"/>
          </a:xfrm>
          <a:prstGeom prst="rect">
            <a:avLst/>
          </a:prstGeom>
          <a:noFill/>
          <a:ln/>
        </p:spPr>
        <p:txBody>
          <a:bodyPr wrap="none" lIns="0" tIns="0" rIns="0" bIns="0" rtlCol="0" anchor="t"/>
          <a:lstStyle/>
          <a:p>
            <a:pPr marL="0" indent="0" algn="l">
              <a:lnSpc>
                <a:spcPts val="2250"/>
              </a:lnSpc>
              <a:buNone/>
            </a:pPr>
            <a:r>
              <a:rPr lang="en-US" sz="1400" dirty="0">
                <a:solidFill>
                  <a:srgbClr val="CAD6DE"/>
                </a:solidFill>
                <a:latin typeface="Cabin" pitchFamily="34" charset="0"/>
                <a:ea typeface="Cabin" pitchFamily="34" charset="-122"/>
                <a:cs typeface="Cabin" pitchFamily="34" charset="-120"/>
              </a:rPr>
              <a:t>Agrigate operates entirely in a web browser, accessed through a link, without requiring a dedicated app installation.</a:t>
            </a:r>
            <a:endParaRPr lang="en-US" sz="1400" dirty="0"/>
          </a:p>
        </p:txBody>
      </p:sp>
      <p:sp>
        <p:nvSpPr>
          <p:cNvPr id="15" name="Text 13"/>
          <p:cNvSpPr/>
          <p:nvPr/>
        </p:nvSpPr>
        <p:spPr>
          <a:xfrm>
            <a:off x="1554242" y="4352568"/>
            <a:ext cx="12242602" cy="288131"/>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CAD6DE"/>
                </a:solidFill>
                <a:latin typeface="Cabin" pitchFamily="34" charset="0"/>
                <a:ea typeface="Cabin" pitchFamily="34" charset="-122"/>
                <a:cs typeface="Cabin" pitchFamily="34" charset="-120"/>
              </a:rPr>
              <a:t>Advantage:</a:t>
            </a:r>
            <a:r>
              <a:rPr lang="en-US" sz="1400" dirty="0">
                <a:solidFill>
                  <a:srgbClr val="CAD6DE"/>
                </a:solidFill>
                <a:latin typeface="Cabin" pitchFamily="34" charset="0"/>
                <a:ea typeface="Cabin" pitchFamily="34" charset="-122"/>
                <a:cs typeface="Cabin" pitchFamily="34" charset="-120"/>
              </a:rPr>
              <a:t> Lightweight, automatic updates, and cross-platform compatibility.</a:t>
            </a:r>
            <a:endParaRPr lang="en-US" sz="1400" dirty="0"/>
          </a:p>
        </p:txBody>
      </p:sp>
      <p:sp>
        <p:nvSpPr>
          <p:cNvPr id="16" name="Text 14"/>
          <p:cNvSpPr/>
          <p:nvPr/>
        </p:nvSpPr>
        <p:spPr>
          <a:xfrm>
            <a:off x="1554242" y="4703683"/>
            <a:ext cx="12242602" cy="288131"/>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CAD6DE"/>
                </a:solidFill>
                <a:latin typeface="Cabin" pitchFamily="34" charset="0"/>
                <a:ea typeface="Cabin" pitchFamily="34" charset="-122"/>
                <a:cs typeface="Cabin" pitchFamily="34" charset="-120"/>
              </a:rPr>
              <a:t>Disadvantage:</a:t>
            </a:r>
            <a:r>
              <a:rPr lang="en-US" sz="1400" dirty="0">
                <a:solidFill>
                  <a:srgbClr val="CAD6DE"/>
                </a:solidFill>
                <a:latin typeface="Cabin" pitchFamily="34" charset="0"/>
                <a:ea typeface="Cabin" pitchFamily="34" charset="-122"/>
                <a:cs typeface="Cabin" pitchFamily="34" charset="-120"/>
              </a:rPr>
              <a:t> Limited access to advanced features like AR, sensors, or robust offline storage.</a:t>
            </a:r>
            <a:endParaRPr lang="en-US" sz="1400" dirty="0"/>
          </a:p>
        </p:txBody>
      </p:sp>
      <p:sp>
        <p:nvSpPr>
          <p:cNvPr id="17" name="Shape 15"/>
          <p:cNvSpPr/>
          <p:nvPr/>
        </p:nvSpPr>
        <p:spPr>
          <a:xfrm>
            <a:off x="630555" y="5374958"/>
            <a:ext cx="13369290" cy="2367558"/>
          </a:xfrm>
          <a:prstGeom prst="roundRect">
            <a:avLst>
              <a:gd name="adj" fmla="val 1142"/>
            </a:avLst>
          </a:prstGeom>
          <a:solidFill>
            <a:srgbClr val="112836"/>
          </a:solidFill>
          <a:ln w="22860">
            <a:solidFill>
              <a:srgbClr val="0041C6">
                <a:alpha val="80000"/>
              </a:srgbClr>
            </a:solidFill>
            <a:prstDash val="solid"/>
          </a:ln>
        </p:spPr>
      </p:sp>
      <p:sp>
        <p:nvSpPr>
          <p:cNvPr id="18" name="Shape 16"/>
          <p:cNvSpPr/>
          <p:nvPr/>
        </p:nvSpPr>
        <p:spPr>
          <a:xfrm>
            <a:off x="653415" y="5397818"/>
            <a:ext cx="720685" cy="2321838"/>
          </a:xfrm>
          <a:prstGeom prst="rect">
            <a:avLst/>
          </a:prstGeom>
          <a:solidFill>
            <a:srgbClr val="0041C6">
              <a:alpha val="80000"/>
            </a:srgbClr>
          </a:solidFill>
          <a:ln/>
        </p:spPr>
      </p:sp>
      <p:sp>
        <p:nvSpPr>
          <p:cNvPr id="19" name="Text 17"/>
          <p:cNvSpPr/>
          <p:nvPr/>
        </p:nvSpPr>
        <p:spPr>
          <a:xfrm>
            <a:off x="878562" y="6389846"/>
            <a:ext cx="270272" cy="337780"/>
          </a:xfrm>
          <a:prstGeom prst="rect">
            <a:avLst/>
          </a:prstGeom>
          <a:noFill/>
          <a:ln/>
        </p:spPr>
        <p:txBody>
          <a:bodyPr wrap="none" lIns="0" tIns="0" rIns="0" bIns="0" rtlCol="0" anchor="t"/>
          <a:lstStyle/>
          <a:p>
            <a:pPr marL="0" indent="0" algn="l">
              <a:lnSpc>
                <a:spcPts val="2100"/>
              </a:lnSpc>
              <a:buNone/>
            </a:pPr>
            <a:r>
              <a:rPr lang="en-US" sz="2100" dirty="0">
                <a:solidFill>
                  <a:srgbClr val="FFFFFF"/>
                </a:solidFill>
                <a:latin typeface="Unbounded" pitchFamily="34" charset="0"/>
                <a:ea typeface="Unbounded" pitchFamily="34" charset="-122"/>
                <a:cs typeface="Unbounded" pitchFamily="34" charset="-120"/>
              </a:rPr>
              <a:t>3</a:t>
            </a:r>
            <a:endParaRPr lang="en-US" sz="2100" dirty="0"/>
          </a:p>
        </p:txBody>
      </p:sp>
      <p:sp>
        <p:nvSpPr>
          <p:cNvPr id="20" name="Text 18"/>
          <p:cNvSpPr/>
          <p:nvPr/>
        </p:nvSpPr>
        <p:spPr>
          <a:xfrm>
            <a:off x="1554242" y="5577959"/>
            <a:ext cx="5445998" cy="529828"/>
          </a:xfrm>
          <a:prstGeom prst="rect">
            <a:avLst/>
          </a:prstGeom>
          <a:noFill/>
          <a:ln/>
        </p:spPr>
        <p:txBody>
          <a:bodyPr wrap="square" lIns="0" tIns="0" rIns="0" bIns="0" rtlCol="0" anchor="t"/>
          <a:lstStyle/>
          <a:p>
            <a:pPr marL="0" indent="0" algn="l">
              <a:lnSpc>
                <a:spcPts val="2050"/>
              </a:lnSpc>
              <a:buNone/>
            </a:pPr>
            <a:r>
              <a:rPr lang="en-US" sz="1650" dirty="0">
                <a:solidFill>
                  <a:srgbClr val="CAD6DE"/>
                </a:solidFill>
                <a:latin typeface="Unbounded" pitchFamily="34" charset="0"/>
                <a:ea typeface="Unbounded" pitchFamily="34" charset="-122"/>
                <a:cs typeface="Unbounded" pitchFamily="34" charset="-120"/>
              </a:rPr>
              <a:t>Client-Server Model(Chosen Approach)</a:t>
            </a:r>
            <a:endParaRPr lang="en-US" sz="1650" dirty="0"/>
          </a:p>
        </p:txBody>
      </p:sp>
      <p:sp>
        <p:nvSpPr>
          <p:cNvPr id="21" name="Text 19"/>
          <p:cNvSpPr/>
          <p:nvPr/>
        </p:nvSpPr>
        <p:spPr>
          <a:xfrm>
            <a:off x="1554242" y="6215896"/>
            <a:ext cx="12242602" cy="576263"/>
          </a:xfrm>
          <a:prstGeom prst="rect">
            <a:avLst/>
          </a:prstGeom>
          <a:noFill/>
          <a:ln/>
        </p:spPr>
        <p:txBody>
          <a:bodyPr wrap="square" lIns="0" tIns="0" rIns="0" bIns="0" rtlCol="0" anchor="t"/>
          <a:lstStyle/>
          <a:p>
            <a:pPr marL="0" indent="0" algn="l">
              <a:lnSpc>
                <a:spcPts val="2250"/>
              </a:lnSpc>
              <a:buNone/>
            </a:pPr>
            <a:r>
              <a:rPr lang="en-US" sz="1400" dirty="0">
                <a:solidFill>
                  <a:srgbClr val="CAD6DE"/>
                </a:solidFill>
                <a:latin typeface="Cabin" pitchFamily="34" charset="0"/>
                <a:ea typeface="Cabin" pitchFamily="34" charset="-122"/>
                <a:cs typeface="Cabin" pitchFamily="34" charset="-120"/>
              </a:rPr>
              <a:t>The Flutter app manages the user interface, camera, AR view, and local storage, while a Flask backend handles demanding AI tasks like disease detection and crop suggestions.</a:t>
            </a:r>
            <a:endParaRPr lang="en-US" sz="1400" dirty="0"/>
          </a:p>
        </p:txBody>
      </p:sp>
      <p:sp>
        <p:nvSpPr>
          <p:cNvPr id="22" name="Text 20"/>
          <p:cNvSpPr/>
          <p:nvPr/>
        </p:nvSpPr>
        <p:spPr>
          <a:xfrm>
            <a:off x="1554242" y="6900267"/>
            <a:ext cx="12242602" cy="288131"/>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CAD6DE"/>
                </a:solidFill>
                <a:latin typeface="Cabin" pitchFamily="34" charset="0"/>
                <a:ea typeface="Cabin" pitchFamily="34" charset="-122"/>
                <a:cs typeface="Cabin" pitchFamily="34" charset="-120"/>
              </a:rPr>
              <a:t>Advantage:</a:t>
            </a:r>
            <a:r>
              <a:rPr lang="en-US" sz="1400" dirty="0">
                <a:solidFill>
                  <a:srgbClr val="CAD6DE"/>
                </a:solidFill>
                <a:latin typeface="Cabin" pitchFamily="34" charset="0"/>
                <a:ea typeface="Cabin" pitchFamily="34" charset="-122"/>
                <a:cs typeface="Cabin" pitchFamily="34" charset="-120"/>
              </a:rPr>
              <a:t> Small app footprint, rapid updates, and support for powerful features.</a:t>
            </a:r>
            <a:endParaRPr lang="en-US" sz="1400" dirty="0"/>
          </a:p>
        </p:txBody>
      </p:sp>
      <p:sp>
        <p:nvSpPr>
          <p:cNvPr id="23" name="Text 21"/>
          <p:cNvSpPr/>
          <p:nvPr/>
        </p:nvSpPr>
        <p:spPr>
          <a:xfrm>
            <a:off x="1554242" y="7251383"/>
            <a:ext cx="12242602" cy="288131"/>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CAD6DE"/>
                </a:solidFill>
                <a:latin typeface="Cabin" pitchFamily="34" charset="0"/>
                <a:ea typeface="Cabin" pitchFamily="34" charset="-122"/>
                <a:cs typeface="Cabin" pitchFamily="34" charset="-120"/>
              </a:rPr>
              <a:t>Disadvantage:</a:t>
            </a:r>
            <a:r>
              <a:rPr lang="en-US" sz="1400" dirty="0">
                <a:solidFill>
                  <a:srgbClr val="CAD6DE"/>
                </a:solidFill>
                <a:latin typeface="Cabin" pitchFamily="34" charset="0"/>
                <a:ea typeface="Cabin" pitchFamily="34" charset="-122"/>
                <a:cs typeface="Cabin" pitchFamily="34" charset="-120"/>
              </a:rPr>
              <a:t> A minor delay (2–5 seconds) for server communication.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19006" y="486370"/>
            <a:ext cx="5133737" cy="520303"/>
          </a:xfrm>
          <a:prstGeom prst="rect">
            <a:avLst/>
          </a:prstGeom>
          <a:noFill/>
          <a:ln/>
        </p:spPr>
        <p:txBody>
          <a:bodyPr wrap="none" lIns="0" tIns="0" rIns="0" bIns="0" rtlCol="0" anchor="t"/>
          <a:lstStyle/>
          <a:p>
            <a:pPr marL="0" indent="0" algn="l">
              <a:lnSpc>
                <a:spcPts val="4050"/>
              </a:lnSpc>
              <a:buNone/>
            </a:pPr>
            <a:r>
              <a:rPr lang="en-US" sz="3250" dirty="0">
                <a:solidFill>
                  <a:srgbClr val="FFFFFF"/>
                </a:solidFill>
                <a:latin typeface="Unbounded" pitchFamily="34" charset="0"/>
                <a:ea typeface="Unbounded" pitchFamily="34" charset="-122"/>
                <a:cs typeface="Unbounded" pitchFamily="34" charset="-120"/>
              </a:rPr>
              <a:t>System Architecture</a:t>
            </a:r>
            <a:endParaRPr lang="en-US" sz="3250" dirty="0"/>
          </a:p>
        </p:txBody>
      </p:sp>
      <p:pic>
        <p:nvPicPr>
          <p:cNvPr id="3" name="Image 0" descr="preencoded.png"/>
          <p:cNvPicPr>
            <a:picLocks noChangeAspect="1"/>
          </p:cNvPicPr>
          <p:nvPr/>
        </p:nvPicPr>
        <p:blipFill>
          <a:blip r:embed="rId3"/>
          <a:stretch>
            <a:fillRect/>
          </a:stretch>
        </p:blipFill>
        <p:spPr>
          <a:xfrm>
            <a:off x="2331343" y="1094822"/>
            <a:ext cx="9967714" cy="6648408"/>
          </a:xfrm>
          <a:prstGeom prst="rect">
            <a:avLst/>
          </a:prstGeom>
        </p:spPr>
      </p:pic>
      <p:sp>
        <p:nvSpPr>
          <p:cNvPr id="4" name="Rectangle 3">
            <a:extLst>
              <a:ext uri="{FF2B5EF4-FFF2-40B4-BE49-F238E27FC236}">
                <a16:creationId xmlns:a16="http://schemas.microsoft.com/office/drawing/2014/main" id="{0151147F-0826-F265-CDEC-350ADA284A69}"/>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03659" y="552926"/>
            <a:ext cx="6681668" cy="591383"/>
          </a:xfrm>
          <a:prstGeom prst="rect">
            <a:avLst/>
          </a:prstGeom>
          <a:noFill/>
          <a:ln/>
        </p:spPr>
        <p:txBody>
          <a:bodyPr wrap="none" lIns="0" tIns="0" rIns="0" bIns="0" rtlCol="0" anchor="t"/>
          <a:lstStyle/>
          <a:p>
            <a:pPr marL="0" indent="0" algn="l">
              <a:lnSpc>
                <a:spcPts val="4650"/>
              </a:lnSpc>
              <a:buNone/>
            </a:pPr>
            <a:r>
              <a:rPr lang="en-US" sz="3700" dirty="0">
                <a:solidFill>
                  <a:srgbClr val="FFFFFF"/>
                </a:solidFill>
                <a:latin typeface="Unbounded" pitchFamily="34" charset="0"/>
                <a:ea typeface="Unbounded" pitchFamily="34" charset="-122"/>
                <a:cs typeface="Unbounded" pitchFamily="34" charset="-120"/>
              </a:rPr>
              <a:t>Detailed System Design</a:t>
            </a:r>
            <a:endParaRPr lang="en-US" sz="3700" dirty="0"/>
          </a:p>
        </p:txBody>
      </p:sp>
      <p:pic>
        <p:nvPicPr>
          <p:cNvPr id="3" name="Image 0" descr="preencoded.png"/>
          <p:cNvPicPr>
            <a:picLocks noChangeAspect="1"/>
          </p:cNvPicPr>
          <p:nvPr/>
        </p:nvPicPr>
        <p:blipFill>
          <a:blip r:embed="rId3"/>
          <a:stretch>
            <a:fillRect/>
          </a:stretch>
        </p:blipFill>
        <p:spPr>
          <a:xfrm>
            <a:off x="703659" y="1671995"/>
            <a:ext cx="7600474" cy="6476405"/>
          </a:xfrm>
          <a:prstGeom prst="rect">
            <a:avLst/>
          </a:prstGeom>
        </p:spPr>
      </p:pic>
      <p:sp>
        <p:nvSpPr>
          <p:cNvPr id="4" name="Text 1"/>
          <p:cNvSpPr/>
          <p:nvPr/>
        </p:nvSpPr>
        <p:spPr>
          <a:xfrm>
            <a:off x="8802291" y="1626751"/>
            <a:ext cx="5131951" cy="3602117"/>
          </a:xfrm>
          <a:prstGeom prst="rect">
            <a:avLst/>
          </a:prstGeom>
          <a:noFill/>
          <a:ln/>
        </p:spPr>
        <p:txBody>
          <a:bodyPr wrap="square" lIns="0" tIns="0" rIns="0" bIns="0" rtlCol="0" anchor="t"/>
          <a:lstStyle/>
          <a:p>
            <a:pPr marL="0" indent="0" algn="l">
              <a:lnSpc>
                <a:spcPts val="2000"/>
              </a:lnSpc>
              <a:buNone/>
            </a:pPr>
            <a:r>
              <a:rPr lang="en-US" sz="1250" dirty="0">
                <a:solidFill>
                  <a:srgbClr val="CAD6DE"/>
                </a:solidFill>
                <a:latin typeface="Cabin" pitchFamily="34" charset="0"/>
                <a:ea typeface="Cabin" pitchFamily="34" charset="-122"/>
                <a:cs typeface="Cabin" pitchFamily="34" charset="-120"/>
              </a:rPr>
              <a:t>In Agrigate, the farmer taps </a:t>
            </a:r>
            <a:r>
              <a:rPr lang="en-US" sz="1250" b="1" dirty="0">
                <a:solidFill>
                  <a:srgbClr val="CAD6DE"/>
                </a:solidFill>
                <a:latin typeface="Cabin" pitchFamily="34" charset="0"/>
                <a:ea typeface="Cabin" pitchFamily="34" charset="-122"/>
                <a:cs typeface="Cabin" pitchFamily="34" charset="-120"/>
              </a:rPr>
              <a:t>“Start AR Disease Detection”</a:t>
            </a:r>
            <a:r>
              <a:rPr lang="en-US" sz="1250" dirty="0">
                <a:solidFill>
                  <a:srgbClr val="CAD6DE"/>
                </a:solidFill>
                <a:latin typeface="Cabin" pitchFamily="34" charset="0"/>
                <a:ea typeface="Cabin" pitchFamily="34" charset="-122"/>
                <a:cs typeface="Cabin" pitchFamily="34" charset="-120"/>
              </a:rPr>
              <a:t> to open the camera, which detects a flat surface. Once positioned over a suspect leaf, the farmer taps </a:t>
            </a:r>
            <a:r>
              <a:rPr lang="en-US" sz="1250" b="1" dirty="0">
                <a:solidFill>
                  <a:srgbClr val="CAD6DE"/>
                </a:solidFill>
                <a:latin typeface="Cabin" pitchFamily="34" charset="0"/>
                <a:ea typeface="Cabin" pitchFamily="34" charset="-122"/>
                <a:cs typeface="Cabin" pitchFamily="34" charset="-120"/>
              </a:rPr>
              <a:t>“Capture”</a:t>
            </a:r>
            <a:r>
              <a:rPr lang="en-US" sz="1250" dirty="0">
                <a:solidFill>
                  <a:srgbClr val="CAD6DE"/>
                </a:solidFill>
                <a:latin typeface="Cabin" pitchFamily="34" charset="0"/>
                <a:ea typeface="Cabin" pitchFamily="34" charset="-122"/>
                <a:cs typeface="Cabin" pitchFamily="34" charset="-120"/>
              </a:rPr>
              <a:t>, and the image is sent to the </a:t>
            </a:r>
            <a:r>
              <a:rPr lang="en-US" sz="1250" b="1" dirty="0">
                <a:solidFill>
                  <a:srgbClr val="CAD6DE"/>
                </a:solidFill>
                <a:latin typeface="Cabin" pitchFamily="34" charset="0"/>
                <a:ea typeface="Cabin" pitchFamily="34" charset="-122"/>
                <a:cs typeface="Cabin" pitchFamily="34" charset="-120"/>
              </a:rPr>
              <a:t>/plantdisease</a:t>
            </a:r>
            <a:r>
              <a:rPr lang="en-US" sz="1250" dirty="0">
                <a:solidFill>
                  <a:srgbClr val="CAD6DE"/>
                </a:solidFill>
                <a:latin typeface="Cabin" pitchFamily="34" charset="0"/>
                <a:ea typeface="Cabin" pitchFamily="34" charset="-122"/>
                <a:cs typeface="Cabin" pitchFamily="34" charset="-120"/>
              </a:rPr>
              <a:t> endpoint. The server’s AI analyzes it and returns the disease name and confidence, displayed instantly on the AR view. Next, the farmer selects </a:t>
            </a:r>
            <a:r>
              <a:rPr lang="en-US" sz="1250" b="1" dirty="0">
                <a:solidFill>
                  <a:srgbClr val="CAD6DE"/>
                </a:solidFill>
                <a:latin typeface="Cabin" pitchFamily="34" charset="0"/>
                <a:ea typeface="Cabin" pitchFamily="34" charset="-122"/>
                <a:cs typeface="Cabin" pitchFamily="34" charset="-120"/>
              </a:rPr>
              <a:t>“Get Crop Recommendations”</a:t>
            </a:r>
            <a:r>
              <a:rPr lang="en-US" sz="1250" dirty="0">
                <a:solidFill>
                  <a:srgbClr val="CAD6DE"/>
                </a:solidFill>
                <a:latin typeface="Cabin" pitchFamily="34" charset="0"/>
                <a:ea typeface="Cabin" pitchFamily="34" charset="-122"/>
                <a:cs typeface="Cabin" pitchFamily="34" charset="-120"/>
              </a:rPr>
              <a:t>, entering or importing NPK, humidity, and temperature data from the sensor dashboard. These are sent to </a:t>
            </a:r>
            <a:r>
              <a:rPr lang="en-US" sz="1250" b="1" dirty="0">
                <a:solidFill>
                  <a:srgbClr val="CAD6DE"/>
                </a:solidFill>
                <a:latin typeface="Cabin" pitchFamily="34" charset="0"/>
                <a:ea typeface="Cabin" pitchFamily="34" charset="-122"/>
                <a:cs typeface="Cabin" pitchFamily="34" charset="-120"/>
              </a:rPr>
              <a:t>/croprecommendation</a:t>
            </a:r>
            <a:r>
              <a:rPr lang="en-US" sz="1250" dirty="0">
                <a:solidFill>
                  <a:srgbClr val="CAD6DE"/>
                </a:solidFill>
                <a:latin typeface="Cabin" pitchFamily="34" charset="0"/>
                <a:ea typeface="Cabin" pitchFamily="34" charset="-122"/>
                <a:cs typeface="Cabin" pitchFamily="34" charset="-120"/>
              </a:rPr>
              <a:t>, which returns ranked crop suggestions with short explanations. The </a:t>
            </a:r>
            <a:r>
              <a:rPr lang="en-US" sz="1250" b="1" dirty="0">
                <a:solidFill>
                  <a:srgbClr val="CAD6DE"/>
                </a:solidFill>
                <a:latin typeface="Cabin" pitchFamily="34" charset="0"/>
                <a:ea typeface="Cabin" pitchFamily="34" charset="-122"/>
                <a:cs typeface="Cabin" pitchFamily="34" charset="-120"/>
              </a:rPr>
              <a:t>Sensor Dashboard</a:t>
            </a:r>
            <a:r>
              <a:rPr lang="en-US" sz="1250" dirty="0">
                <a:solidFill>
                  <a:srgbClr val="CAD6DE"/>
                </a:solidFill>
                <a:latin typeface="Cabin" pitchFamily="34" charset="0"/>
                <a:ea typeface="Cabin" pitchFamily="34" charset="-122"/>
                <a:cs typeface="Cabin" pitchFamily="34" charset="-120"/>
              </a:rPr>
              <a:t> continuously polls </a:t>
            </a:r>
            <a:r>
              <a:rPr lang="en-US" sz="1250" b="1" dirty="0">
                <a:solidFill>
                  <a:srgbClr val="CAD6DE"/>
                </a:solidFill>
                <a:latin typeface="Cabin" pitchFamily="34" charset="0"/>
                <a:ea typeface="Cabin" pitchFamily="34" charset="-122"/>
                <a:cs typeface="Cabin" pitchFamily="34" charset="-120"/>
              </a:rPr>
              <a:t>/sensor</a:t>
            </a:r>
            <a:r>
              <a:rPr lang="en-US" sz="1250" dirty="0">
                <a:solidFill>
                  <a:srgbClr val="CAD6DE"/>
                </a:solidFill>
                <a:latin typeface="Cabin" pitchFamily="34" charset="0"/>
                <a:ea typeface="Cabin" pitchFamily="34" charset="-122"/>
                <a:cs typeface="Cabin" pitchFamily="34" charset="-120"/>
              </a:rPr>
              <a:t> for live readings, updating gauges and alerting if thresholds are crossed. The farmer can also browse market listings and news from external APIs, which are cached for offline use. Throughout the process, Agrigate saves images, results, and preferences locally so the farmer can access them even without internet.</a:t>
            </a:r>
            <a:endParaRPr lang="en-US" sz="1250" dirty="0"/>
          </a:p>
        </p:txBody>
      </p:sp>
      <p:sp>
        <p:nvSpPr>
          <p:cNvPr id="5" name="Rectangle 4">
            <a:extLst>
              <a:ext uri="{FF2B5EF4-FFF2-40B4-BE49-F238E27FC236}">
                <a16:creationId xmlns:a16="http://schemas.microsoft.com/office/drawing/2014/main" id="{4E90D71A-AF9D-7705-6093-19D46A4FDD4B}"/>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7724" y="740053"/>
            <a:ext cx="8086011"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Implementation &amp; Demo</a:t>
            </a:r>
            <a:endParaRPr lang="en-US" sz="4400" dirty="0"/>
          </a:p>
        </p:txBody>
      </p:sp>
      <p:sp>
        <p:nvSpPr>
          <p:cNvPr id="3" name="Text 1"/>
          <p:cNvSpPr/>
          <p:nvPr/>
        </p:nvSpPr>
        <p:spPr>
          <a:xfrm>
            <a:off x="837724" y="1993940"/>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Github Link: </a:t>
            </a:r>
            <a:r>
              <a:rPr lang="en-US" sz="1850" u="sng" dirty="0">
                <a:solidFill>
                  <a:srgbClr val="0A988B"/>
                </a:solidFill>
                <a:latin typeface="Cabin" pitchFamily="34" charset="0"/>
                <a:ea typeface="Cabin" pitchFamily="34" charset="-122"/>
                <a:cs typeface="Cabin" pitchFamily="34" charset="-120"/>
                <a:hlinkClick r:id="rId3">
                  <a:extLst>
                    <a:ext uri="{A12FA001-AC4F-418D-AE19-62706E023703}">
                      <ahyp:hlinkClr xmlns:ahyp="http://schemas.microsoft.com/office/drawing/2018/hyperlinkcolor" val="tx"/>
                    </a:ext>
                  </a:extLst>
                </a:hlinkClick>
              </a:rPr>
              <a:t>https://github.com/Aggerio/Agrigate_App</a:t>
            </a:r>
            <a:endParaRPr lang="en-US" sz="1850" dirty="0"/>
          </a:p>
        </p:txBody>
      </p:sp>
      <p:sp>
        <p:nvSpPr>
          <p:cNvPr id="4" name="Text 2"/>
          <p:cNvSpPr/>
          <p:nvPr/>
        </p:nvSpPr>
        <p:spPr>
          <a:xfrm>
            <a:off x="837724" y="2931398"/>
            <a:ext cx="12954952" cy="383024"/>
          </a:xfrm>
          <a:prstGeom prst="rect">
            <a:avLst/>
          </a:prstGeom>
          <a:noFill/>
          <a:ln/>
        </p:spPr>
        <p:txBody>
          <a:bodyPr wrap="none" lIns="0" tIns="0" rIns="0" bIns="0" rtlCol="0" anchor="t"/>
          <a:lstStyle/>
          <a:p>
            <a:pPr>
              <a:lnSpc>
                <a:spcPts val="3000"/>
              </a:lnSpc>
            </a:pPr>
            <a:r>
              <a:rPr lang="en-US" sz="1850" dirty="0">
                <a:solidFill>
                  <a:srgbClr val="CAD6DE"/>
                </a:solidFill>
                <a:latin typeface="Cabin" pitchFamily="34" charset="0"/>
                <a:ea typeface="Cabin" pitchFamily="34" charset="-122"/>
                <a:cs typeface="Cabin" pitchFamily="34" charset="-120"/>
              </a:rPr>
              <a:t>Video Link: </a:t>
            </a:r>
            <a:r>
              <a:rPr lang="en-US" sz="1850" dirty="0">
                <a:solidFill>
                  <a:srgbClr val="CAD6DE"/>
                </a:solidFill>
                <a:latin typeface="Cabin" pitchFamily="34" charset="0"/>
                <a:ea typeface="Cabin" pitchFamily="34" charset="-122"/>
                <a:cs typeface="Cabin" pitchFamily="34" charset="-120"/>
                <a:hlinkClick r:id="rId4"/>
              </a:rPr>
              <a:t>https://drive.google.com/file/d/1hN_OOvydTjxzEwXqXJWj9-0rRlXFcIhT/view?usp=sharing </a:t>
            </a:r>
            <a:endParaRPr lang="en-US" sz="1850" dirty="0"/>
          </a:p>
        </p:txBody>
      </p:sp>
      <p:sp>
        <p:nvSpPr>
          <p:cNvPr id="5" name="Rectangle 4">
            <a:extLst>
              <a:ext uri="{FF2B5EF4-FFF2-40B4-BE49-F238E27FC236}">
                <a16:creationId xmlns:a16="http://schemas.microsoft.com/office/drawing/2014/main" id="{829CCD4D-A8F1-0E3C-B32B-2E3976B70F8F}"/>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
        <p:nvSpPr>
          <p:cNvPr id="6" name="Text 2">
            <a:extLst>
              <a:ext uri="{FF2B5EF4-FFF2-40B4-BE49-F238E27FC236}">
                <a16:creationId xmlns:a16="http://schemas.microsoft.com/office/drawing/2014/main" id="{144569F2-124A-65CB-4C56-67325E4870F4}"/>
              </a:ext>
            </a:extLst>
          </p:cNvPr>
          <p:cNvSpPr/>
          <p:nvPr/>
        </p:nvSpPr>
        <p:spPr>
          <a:xfrm>
            <a:off x="837724" y="3677344"/>
            <a:ext cx="12954952" cy="383024"/>
          </a:xfrm>
          <a:prstGeom prst="rect">
            <a:avLst/>
          </a:prstGeom>
          <a:noFill/>
          <a:ln/>
        </p:spPr>
        <p:txBody>
          <a:bodyPr wrap="none" lIns="0" tIns="0" rIns="0" bIns="0" rtlCol="0" anchor="t"/>
          <a:lstStyle/>
          <a:p>
            <a:pPr>
              <a:lnSpc>
                <a:spcPts val="3000"/>
              </a:lnSpc>
            </a:pPr>
            <a:r>
              <a:rPr lang="en-US" sz="1850" dirty="0">
                <a:solidFill>
                  <a:srgbClr val="CAD6DE"/>
                </a:solidFill>
                <a:latin typeface="Cabin" pitchFamily="34" charset="0"/>
                <a:ea typeface="Cabin" pitchFamily="34" charset="-122"/>
                <a:cs typeface="Cabin" pitchFamily="34" charset="-120"/>
              </a:rPr>
              <a:t>PPT </a:t>
            </a:r>
            <a:r>
              <a:rPr lang="en-US" sz="1850">
                <a:solidFill>
                  <a:srgbClr val="CAD6DE"/>
                </a:solidFill>
                <a:latin typeface="Cabin" pitchFamily="34" charset="0"/>
                <a:ea typeface="Cabin" pitchFamily="34" charset="-122"/>
                <a:cs typeface="Cabin" pitchFamily="34" charset="-120"/>
              </a:rPr>
              <a:t>Explanation Video </a:t>
            </a:r>
            <a:r>
              <a:rPr lang="en-US" sz="1850" dirty="0">
                <a:solidFill>
                  <a:srgbClr val="CAD6DE"/>
                </a:solidFill>
                <a:latin typeface="Cabin" pitchFamily="34" charset="0"/>
                <a:ea typeface="Cabin" pitchFamily="34" charset="-122"/>
                <a:cs typeface="Cabin" pitchFamily="34" charset="-120"/>
              </a:rPr>
              <a:t>Link: </a:t>
            </a:r>
            <a:r>
              <a:rPr lang="en-US" sz="1850" dirty="0">
                <a:solidFill>
                  <a:srgbClr val="CAD6DE"/>
                </a:solidFill>
                <a:latin typeface="Cabin" pitchFamily="34" charset="0"/>
                <a:ea typeface="Cabin" pitchFamily="34" charset="-122"/>
                <a:cs typeface="Cabin" pitchFamily="34" charset="-120"/>
                <a:hlinkClick r:id="rId5"/>
              </a:rPr>
              <a:t>https://drive.google.com/file/d/1eNuhgSenOGuOekjBdZ35rhQoMlpHg7Id/view?usp=sharing</a:t>
            </a: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37724" y="873323"/>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Manual Testing</a:t>
            </a:r>
            <a:endParaRPr lang="en-US" sz="4400" dirty="0"/>
          </a:p>
        </p:txBody>
      </p:sp>
      <p:sp>
        <p:nvSpPr>
          <p:cNvPr id="3" name="Shape 1"/>
          <p:cNvSpPr/>
          <p:nvPr/>
        </p:nvSpPr>
        <p:spPr>
          <a:xfrm>
            <a:off x="837724" y="2183190"/>
            <a:ext cx="119658" cy="119658"/>
          </a:xfrm>
          <a:prstGeom prst="roundRect">
            <a:avLst>
              <a:gd name="adj" fmla="val 382089"/>
            </a:avLst>
          </a:prstGeom>
          <a:solidFill>
            <a:srgbClr val="0A988B"/>
          </a:solidFill>
          <a:ln/>
        </p:spPr>
      </p:sp>
      <p:sp>
        <p:nvSpPr>
          <p:cNvPr id="4" name="Text 2"/>
          <p:cNvSpPr/>
          <p:nvPr/>
        </p:nvSpPr>
        <p:spPr>
          <a:xfrm>
            <a:off x="1196697" y="205609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Unit Testing</a:t>
            </a:r>
            <a:endParaRPr lang="en-US" sz="2200" dirty="0"/>
          </a:p>
        </p:txBody>
      </p:sp>
      <p:sp>
        <p:nvSpPr>
          <p:cNvPr id="5" name="Text 3"/>
          <p:cNvSpPr/>
          <p:nvPr/>
        </p:nvSpPr>
        <p:spPr>
          <a:xfrm>
            <a:off x="1196697" y="2551628"/>
            <a:ext cx="3759875" cy="2298144"/>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Dart unit tests covered core functions (e.g., ImageFile.compress(), DiseaseResult.fromJson(), HTTPClient methods) with 95% line coverage, revealing a compression logic bug.</a:t>
            </a:r>
            <a:endParaRPr lang="en-US" sz="1850" dirty="0"/>
          </a:p>
        </p:txBody>
      </p:sp>
      <p:sp>
        <p:nvSpPr>
          <p:cNvPr id="6" name="Shape 4"/>
          <p:cNvSpPr/>
          <p:nvPr/>
        </p:nvSpPr>
        <p:spPr>
          <a:xfrm>
            <a:off x="5255776" y="2183190"/>
            <a:ext cx="119658" cy="119658"/>
          </a:xfrm>
          <a:prstGeom prst="roundRect">
            <a:avLst>
              <a:gd name="adj" fmla="val 382089"/>
            </a:avLst>
          </a:prstGeom>
          <a:solidFill>
            <a:srgbClr val="0A988B"/>
          </a:solidFill>
          <a:ln/>
        </p:spPr>
      </p:sp>
      <p:sp>
        <p:nvSpPr>
          <p:cNvPr id="7" name="Text 5"/>
          <p:cNvSpPr/>
          <p:nvPr/>
        </p:nvSpPr>
        <p:spPr>
          <a:xfrm>
            <a:off x="5614749" y="2056090"/>
            <a:ext cx="3152418"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Regression Testing</a:t>
            </a:r>
            <a:endParaRPr lang="en-US" sz="2200" dirty="0"/>
          </a:p>
        </p:txBody>
      </p:sp>
      <p:sp>
        <p:nvSpPr>
          <p:cNvPr id="8" name="Text 6"/>
          <p:cNvSpPr/>
          <p:nvPr/>
        </p:nvSpPr>
        <p:spPr>
          <a:xfrm>
            <a:off x="5614749" y="2551628"/>
            <a:ext cx="3759875" cy="1915120"/>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Automated smoke tests for six primary user flows (AR detection, sensor dashboard, etc.) were run on every merge to main; no regressions detected over three weeks.</a:t>
            </a:r>
            <a:endParaRPr lang="en-US" sz="1850" dirty="0"/>
          </a:p>
        </p:txBody>
      </p:sp>
      <p:sp>
        <p:nvSpPr>
          <p:cNvPr id="9" name="Shape 7"/>
          <p:cNvSpPr/>
          <p:nvPr/>
        </p:nvSpPr>
        <p:spPr>
          <a:xfrm>
            <a:off x="9673828" y="2183190"/>
            <a:ext cx="119658" cy="119658"/>
          </a:xfrm>
          <a:prstGeom prst="roundRect">
            <a:avLst>
              <a:gd name="adj" fmla="val 382089"/>
            </a:avLst>
          </a:prstGeom>
          <a:solidFill>
            <a:srgbClr val="0A988B"/>
          </a:solidFill>
          <a:ln/>
        </p:spPr>
      </p:sp>
      <p:sp>
        <p:nvSpPr>
          <p:cNvPr id="10" name="Text 8"/>
          <p:cNvSpPr/>
          <p:nvPr/>
        </p:nvSpPr>
        <p:spPr>
          <a:xfrm>
            <a:off x="10032802" y="2056090"/>
            <a:ext cx="3160871"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Integration Testing</a:t>
            </a:r>
            <a:endParaRPr lang="en-US" sz="2200" dirty="0"/>
          </a:p>
        </p:txBody>
      </p:sp>
      <p:sp>
        <p:nvSpPr>
          <p:cNvPr id="11" name="Text 9"/>
          <p:cNvSpPr/>
          <p:nvPr/>
        </p:nvSpPr>
        <p:spPr>
          <a:xfrm>
            <a:off x="10032802" y="2551628"/>
            <a:ext cx="3759875" cy="2298144"/>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End-to-end integration tests confirmed interactions between services (PlantDiseaseService, HTTPClient) and the Flask server, uncovering and patching missing null checks.</a:t>
            </a:r>
            <a:endParaRPr lang="en-US" sz="1850" dirty="0"/>
          </a:p>
        </p:txBody>
      </p:sp>
      <p:sp>
        <p:nvSpPr>
          <p:cNvPr id="12" name="Shape 10"/>
          <p:cNvSpPr/>
          <p:nvPr/>
        </p:nvSpPr>
        <p:spPr>
          <a:xfrm>
            <a:off x="837724" y="5455622"/>
            <a:ext cx="119658" cy="119658"/>
          </a:xfrm>
          <a:prstGeom prst="roundRect">
            <a:avLst>
              <a:gd name="adj" fmla="val 382089"/>
            </a:avLst>
          </a:prstGeom>
          <a:solidFill>
            <a:srgbClr val="0A988B"/>
          </a:solidFill>
          <a:ln/>
        </p:spPr>
      </p:sp>
      <p:sp>
        <p:nvSpPr>
          <p:cNvPr id="13" name="Text 11"/>
          <p:cNvSpPr/>
          <p:nvPr/>
        </p:nvSpPr>
        <p:spPr>
          <a:xfrm>
            <a:off x="1196697" y="5328523"/>
            <a:ext cx="2913697"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Black Box Testing</a:t>
            </a:r>
            <a:endParaRPr lang="en-US" sz="2200" dirty="0"/>
          </a:p>
        </p:txBody>
      </p:sp>
      <p:sp>
        <p:nvSpPr>
          <p:cNvPr id="14" name="Text 12"/>
          <p:cNvSpPr/>
          <p:nvPr/>
        </p:nvSpPr>
        <p:spPr>
          <a:xfrm>
            <a:off x="1196697" y="5824061"/>
            <a:ext cx="5968841" cy="1532096"/>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Input validation (N, P, K, humidity, temperature) was tested using black box methods across invalid (negative, &gt;100) and valid (0-100) partitions, ensuring correct error handling.</a:t>
            </a:r>
            <a:endParaRPr lang="en-US" sz="1850" dirty="0"/>
          </a:p>
        </p:txBody>
      </p:sp>
      <p:sp>
        <p:nvSpPr>
          <p:cNvPr id="15" name="Shape 13"/>
          <p:cNvSpPr/>
          <p:nvPr/>
        </p:nvSpPr>
        <p:spPr>
          <a:xfrm>
            <a:off x="7464743" y="5455622"/>
            <a:ext cx="119658" cy="119658"/>
          </a:xfrm>
          <a:prstGeom prst="roundRect">
            <a:avLst>
              <a:gd name="adj" fmla="val 382089"/>
            </a:avLst>
          </a:prstGeom>
          <a:solidFill>
            <a:srgbClr val="0A988B"/>
          </a:solidFill>
          <a:ln/>
        </p:spPr>
      </p:sp>
      <p:sp>
        <p:nvSpPr>
          <p:cNvPr id="16" name="Text 14"/>
          <p:cNvSpPr/>
          <p:nvPr/>
        </p:nvSpPr>
        <p:spPr>
          <a:xfrm>
            <a:off x="7823716" y="532852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Scenario Testing</a:t>
            </a:r>
            <a:endParaRPr lang="en-US" sz="2200" dirty="0"/>
          </a:p>
        </p:txBody>
      </p:sp>
      <p:sp>
        <p:nvSpPr>
          <p:cNvPr id="17" name="Text 15"/>
          <p:cNvSpPr/>
          <p:nvPr/>
        </p:nvSpPr>
        <p:spPr>
          <a:xfrm>
            <a:off x="7823716" y="5824061"/>
            <a:ext cx="5968960"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Real-world user flows were scripted, leading to fixes for a missing share button on the snapshot detail screen and an unclear poll interval dialog in the Sensor Dashboard.</a:t>
            </a:r>
            <a:endParaRPr lang="en-US" sz="1850" dirty="0"/>
          </a:p>
        </p:txBody>
      </p:sp>
      <p:sp>
        <p:nvSpPr>
          <p:cNvPr id="18" name="Rectangle 17">
            <a:extLst>
              <a:ext uri="{FF2B5EF4-FFF2-40B4-BE49-F238E27FC236}">
                <a16:creationId xmlns:a16="http://schemas.microsoft.com/office/drawing/2014/main" id="{C926E104-72A3-26F8-8A72-4D01EA2EC1AC}"/>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37724" y="310793"/>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CASE TOOL</a:t>
            </a:r>
            <a:endParaRPr lang="en-US" sz="4400" dirty="0"/>
          </a:p>
        </p:txBody>
      </p:sp>
      <p:pic>
        <p:nvPicPr>
          <p:cNvPr id="3" name="Image 0" descr="preencoded.png"/>
          <p:cNvPicPr>
            <a:picLocks noChangeAspect="1"/>
          </p:cNvPicPr>
          <p:nvPr/>
        </p:nvPicPr>
        <p:blipFill>
          <a:blip r:embed="rId3"/>
          <a:stretch>
            <a:fillRect/>
          </a:stretch>
        </p:blipFill>
        <p:spPr>
          <a:xfrm>
            <a:off x="837724" y="2425303"/>
            <a:ext cx="6456283" cy="4441865"/>
          </a:xfrm>
          <a:prstGeom prst="rect">
            <a:avLst/>
          </a:prstGeom>
        </p:spPr>
      </p:pic>
      <p:pic>
        <p:nvPicPr>
          <p:cNvPr id="6" name="Picture 5">
            <a:extLst>
              <a:ext uri="{FF2B5EF4-FFF2-40B4-BE49-F238E27FC236}">
                <a16:creationId xmlns:a16="http://schemas.microsoft.com/office/drawing/2014/main" id="{CEA074B5-EA13-E0F4-8060-B125371C0AE7}"/>
              </a:ext>
            </a:extLst>
          </p:cNvPr>
          <p:cNvPicPr>
            <a:picLocks noChangeAspect="1"/>
          </p:cNvPicPr>
          <p:nvPr/>
        </p:nvPicPr>
        <p:blipFill>
          <a:blip r:embed="rId4"/>
          <a:stretch>
            <a:fillRect/>
          </a:stretch>
        </p:blipFill>
        <p:spPr>
          <a:xfrm>
            <a:off x="8209280" y="2425303"/>
            <a:ext cx="6049302" cy="4558895"/>
          </a:xfrm>
          <a:prstGeom prst="rect">
            <a:avLst/>
          </a:prstGeom>
        </p:spPr>
      </p:pic>
      <p:sp>
        <p:nvSpPr>
          <p:cNvPr id="7" name="Text 0">
            <a:extLst>
              <a:ext uri="{FF2B5EF4-FFF2-40B4-BE49-F238E27FC236}">
                <a16:creationId xmlns:a16="http://schemas.microsoft.com/office/drawing/2014/main" id="{D90C52E1-D21E-1D9E-B271-389EAD5BE96A}"/>
              </a:ext>
            </a:extLst>
          </p:cNvPr>
          <p:cNvSpPr/>
          <p:nvPr/>
        </p:nvSpPr>
        <p:spPr>
          <a:xfrm>
            <a:off x="837724" y="1560473"/>
            <a:ext cx="5632490" cy="704017"/>
          </a:xfrm>
          <a:prstGeom prst="rect">
            <a:avLst/>
          </a:prstGeom>
          <a:noFill/>
          <a:ln/>
        </p:spPr>
        <p:txBody>
          <a:bodyPr wrap="none" lIns="0" tIns="0" rIns="0" bIns="0" rtlCol="0" anchor="t"/>
          <a:lstStyle/>
          <a:p>
            <a:pPr marL="0" indent="0" algn="l">
              <a:lnSpc>
                <a:spcPts val="5500"/>
              </a:lnSpc>
              <a:buNone/>
            </a:pPr>
            <a:r>
              <a:rPr lang="en-US" sz="2500" dirty="0">
                <a:solidFill>
                  <a:srgbClr val="FFFFFF"/>
                </a:solidFill>
                <a:latin typeface="Unbounded" pitchFamily="34" charset="0"/>
                <a:ea typeface="Unbounded" pitchFamily="34" charset="-122"/>
                <a:cs typeface="Unbounded" pitchFamily="34" charset="-120"/>
              </a:rPr>
              <a:t>Class Diagram</a:t>
            </a:r>
            <a:endParaRPr lang="en-US" sz="2500" dirty="0"/>
          </a:p>
        </p:txBody>
      </p:sp>
      <p:sp>
        <p:nvSpPr>
          <p:cNvPr id="8" name="Text 0">
            <a:extLst>
              <a:ext uri="{FF2B5EF4-FFF2-40B4-BE49-F238E27FC236}">
                <a16:creationId xmlns:a16="http://schemas.microsoft.com/office/drawing/2014/main" id="{FA6FDA5B-A2AB-6E67-BCF6-1940C160EFE2}"/>
              </a:ext>
            </a:extLst>
          </p:cNvPr>
          <p:cNvSpPr/>
          <p:nvPr/>
        </p:nvSpPr>
        <p:spPr>
          <a:xfrm>
            <a:off x="8209280" y="1560473"/>
            <a:ext cx="5632490" cy="704017"/>
          </a:xfrm>
          <a:prstGeom prst="rect">
            <a:avLst/>
          </a:prstGeom>
          <a:noFill/>
          <a:ln/>
        </p:spPr>
        <p:txBody>
          <a:bodyPr wrap="none" lIns="0" tIns="0" rIns="0" bIns="0" rtlCol="0" anchor="t"/>
          <a:lstStyle/>
          <a:p>
            <a:pPr marL="0" indent="0" algn="l">
              <a:lnSpc>
                <a:spcPts val="5500"/>
              </a:lnSpc>
              <a:buNone/>
            </a:pPr>
            <a:r>
              <a:rPr lang="en-US" sz="2500" dirty="0">
                <a:solidFill>
                  <a:srgbClr val="FFFFFF"/>
                </a:solidFill>
                <a:latin typeface="Unbounded" pitchFamily="34" charset="0"/>
                <a:ea typeface="Unbounded" pitchFamily="34" charset="-122"/>
                <a:cs typeface="Unbounded" pitchFamily="34" charset="-120"/>
              </a:rPr>
              <a:t>Context Model</a:t>
            </a:r>
            <a:endParaRPr lang="en-US" sz="2500" dirty="0"/>
          </a:p>
        </p:txBody>
      </p:sp>
      <p:sp>
        <p:nvSpPr>
          <p:cNvPr id="4" name="Rectangle 3">
            <a:extLst>
              <a:ext uri="{FF2B5EF4-FFF2-40B4-BE49-F238E27FC236}">
                <a16:creationId xmlns:a16="http://schemas.microsoft.com/office/drawing/2014/main" id="{B4C0936F-AB0E-8287-0CB6-394F68BF662F}"/>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7C4E3F70-B628-24BE-37FD-F4060546D975}"/>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
        <p:nvSpPr>
          <p:cNvPr id="2" name="Text 0"/>
          <p:cNvSpPr/>
          <p:nvPr/>
        </p:nvSpPr>
        <p:spPr>
          <a:xfrm>
            <a:off x="418862" y="329089"/>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Glossary</a:t>
            </a:r>
            <a:endParaRPr lang="en-US" sz="2200" dirty="0"/>
          </a:p>
        </p:txBody>
      </p:sp>
      <p:sp>
        <p:nvSpPr>
          <p:cNvPr id="3" name="Shape 1"/>
          <p:cNvSpPr/>
          <p:nvPr/>
        </p:nvSpPr>
        <p:spPr>
          <a:xfrm>
            <a:off x="418862" y="920353"/>
            <a:ext cx="6836450" cy="678537"/>
          </a:xfrm>
          <a:prstGeom prst="roundRect">
            <a:avLst>
              <a:gd name="adj" fmla="val 2646"/>
            </a:avLst>
          </a:prstGeom>
          <a:solidFill>
            <a:srgbClr val="304755"/>
          </a:solidFill>
          <a:ln/>
        </p:spPr>
      </p:sp>
      <p:sp>
        <p:nvSpPr>
          <p:cNvPr id="4" name="Text 2"/>
          <p:cNvSpPr/>
          <p:nvPr/>
        </p:nvSpPr>
        <p:spPr>
          <a:xfrm>
            <a:off x="538520" y="1040011"/>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API</a:t>
            </a:r>
            <a:endParaRPr lang="en-US" sz="1100" dirty="0"/>
          </a:p>
        </p:txBody>
      </p:sp>
      <p:sp>
        <p:nvSpPr>
          <p:cNvPr id="5" name="Text 3"/>
          <p:cNvSpPr/>
          <p:nvPr/>
        </p:nvSpPr>
        <p:spPr>
          <a:xfrm>
            <a:off x="538520" y="1287780"/>
            <a:ext cx="6597134"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Application Programming Interface</a:t>
            </a:r>
            <a:endParaRPr lang="en-US" sz="900" dirty="0"/>
          </a:p>
        </p:txBody>
      </p:sp>
      <p:sp>
        <p:nvSpPr>
          <p:cNvPr id="6" name="Shape 4"/>
          <p:cNvSpPr/>
          <p:nvPr/>
        </p:nvSpPr>
        <p:spPr>
          <a:xfrm>
            <a:off x="7374969" y="920353"/>
            <a:ext cx="6836569" cy="678537"/>
          </a:xfrm>
          <a:prstGeom prst="roundRect">
            <a:avLst>
              <a:gd name="adj" fmla="val 2646"/>
            </a:avLst>
          </a:prstGeom>
          <a:solidFill>
            <a:srgbClr val="304755"/>
          </a:solidFill>
          <a:ln/>
        </p:spPr>
      </p:sp>
      <p:sp>
        <p:nvSpPr>
          <p:cNvPr id="7" name="Text 5"/>
          <p:cNvSpPr/>
          <p:nvPr/>
        </p:nvSpPr>
        <p:spPr>
          <a:xfrm>
            <a:off x="7494627" y="1040011"/>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HTTP / HTTPS</a:t>
            </a:r>
            <a:endParaRPr lang="en-US" sz="1100" dirty="0"/>
          </a:p>
        </p:txBody>
      </p:sp>
      <p:sp>
        <p:nvSpPr>
          <p:cNvPr id="8" name="Text 6"/>
          <p:cNvSpPr/>
          <p:nvPr/>
        </p:nvSpPr>
        <p:spPr>
          <a:xfrm>
            <a:off x="7494627" y="1287780"/>
            <a:ext cx="6597253"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Hypertext Transfer Protocol (Secure)</a:t>
            </a:r>
            <a:endParaRPr lang="en-US" sz="900" dirty="0"/>
          </a:p>
        </p:txBody>
      </p:sp>
      <p:sp>
        <p:nvSpPr>
          <p:cNvPr id="9" name="Shape 7"/>
          <p:cNvSpPr/>
          <p:nvPr/>
        </p:nvSpPr>
        <p:spPr>
          <a:xfrm>
            <a:off x="418862" y="1718548"/>
            <a:ext cx="6836450" cy="678537"/>
          </a:xfrm>
          <a:prstGeom prst="roundRect">
            <a:avLst>
              <a:gd name="adj" fmla="val 2646"/>
            </a:avLst>
          </a:prstGeom>
          <a:solidFill>
            <a:srgbClr val="304755"/>
          </a:solidFill>
          <a:ln/>
        </p:spPr>
      </p:sp>
      <p:sp>
        <p:nvSpPr>
          <p:cNvPr id="10" name="Text 8"/>
          <p:cNvSpPr/>
          <p:nvPr/>
        </p:nvSpPr>
        <p:spPr>
          <a:xfrm>
            <a:off x="538520" y="1838206"/>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JSON</a:t>
            </a:r>
            <a:endParaRPr lang="en-US" sz="1100" dirty="0"/>
          </a:p>
        </p:txBody>
      </p:sp>
      <p:sp>
        <p:nvSpPr>
          <p:cNvPr id="11" name="Text 9"/>
          <p:cNvSpPr/>
          <p:nvPr/>
        </p:nvSpPr>
        <p:spPr>
          <a:xfrm>
            <a:off x="538520" y="2085975"/>
            <a:ext cx="6597134"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JavaScript Object Notation</a:t>
            </a:r>
            <a:endParaRPr lang="en-US" sz="900" dirty="0"/>
          </a:p>
        </p:txBody>
      </p:sp>
      <p:sp>
        <p:nvSpPr>
          <p:cNvPr id="12" name="Shape 10"/>
          <p:cNvSpPr/>
          <p:nvPr/>
        </p:nvSpPr>
        <p:spPr>
          <a:xfrm>
            <a:off x="7374969" y="1718548"/>
            <a:ext cx="6836569" cy="678537"/>
          </a:xfrm>
          <a:prstGeom prst="roundRect">
            <a:avLst>
              <a:gd name="adj" fmla="val 2646"/>
            </a:avLst>
          </a:prstGeom>
          <a:solidFill>
            <a:srgbClr val="304755"/>
          </a:solidFill>
          <a:ln/>
        </p:spPr>
      </p:sp>
      <p:sp>
        <p:nvSpPr>
          <p:cNvPr id="13" name="Text 11"/>
          <p:cNvSpPr/>
          <p:nvPr/>
        </p:nvSpPr>
        <p:spPr>
          <a:xfrm>
            <a:off x="7494627" y="1838206"/>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UI</a:t>
            </a:r>
            <a:endParaRPr lang="en-US" sz="1100" dirty="0"/>
          </a:p>
        </p:txBody>
      </p:sp>
      <p:sp>
        <p:nvSpPr>
          <p:cNvPr id="14" name="Text 12"/>
          <p:cNvSpPr/>
          <p:nvPr/>
        </p:nvSpPr>
        <p:spPr>
          <a:xfrm>
            <a:off x="7494627" y="2085975"/>
            <a:ext cx="6597253"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User Interface</a:t>
            </a:r>
            <a:endParaRPr lang="en-US" sz="900" dirty="0"/>
          </a:p>
        </p:txBody>
      </p:sp>
      <p:sp>
        <p:nvSpPr>
          <p:cNvPr id="15" name="Shape 13"/>
          <p:cNvSpPr/>
          <p:nvPr/>
        </p:nvSpPr>
        <p:spPr>
          <a:xfrm>
            <a:off x="418862" y="2516743"/>
            <a:ext cx="6836450" cy="678537"/>
          </a:xfrm>
          <a:prstGeom prst="roundRect">
            <a:avLst>
              <a:gd name="adj" fmla="val 2646"/>
            </a:avLst>
          </a:prstGeom>
          <a:solidFill>
            <a:srgbClr val="304755"/>
          </a:solidFill>
          <a:ln/>
        </p:spPr>
      </p:sp>
      <p:sp>
        <p:nvSpPr>
          <p:cNvPr id="16" name="Text 14"/>
          <p:cNvSpPr/>
          <p:nvPr/>
        </p:nvSpPr>
        <p:spPr>
          <a:xfrm>
            <a:off x="538520" y="2636401"/>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UX</a:t>
            </a:r>
            <a:endParaRPr lang="en-US" sz="1100" dirty="0"/>
          </a:p>
        </p:txBody>
      </p:sp>
      <p:sp>
        <p:nvSpPr>
          <p:cNvPr id="17" name="Text 15"/>
          <p:cNvSpPr/>
          <p:nvPr/>
        </p:nvSpPr>
        <p:spPr>
          <a:xfrm>
            <a:off x="538520" y="2884170"/>
            <a:ext cx="6597134"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User Experience</a:t>
            </a:r>
            <a:endParaRPr lang="en-US" sz="900" dirty="0"/>
          </a:p>
        </p:txBody>
      </p:sp>
      <p:sp>
        <p:nvSpPr>
          <p:cNvPr id="18" name="Shape 16"/>
          <p:cNvSpPr/>
          <p:nvPr/>
        </p:nvSpPr>
        <p:spPr>
          <a:xfrm>
            <a:off x="7374969" y="2516743"/>
            <a:ext cx="6836569" cy="678537"/>
          </a:xfrm>
          <a:prstGeom prst="roundRect">
            <a:avLst>
              <a:gd name="adj" fmla="val 2646"/>
            </a:avLst>
          </a:prstGeom>
          <a:solidFill>
            <a:srgbClr val="304755"/>
          </a:solidFill>
          <a:ln/>
        </p:spPr>
      </p:sp>
      <p:sp>
        <p:nvSpPr>
          <p:cNvPr id="19" name="Text 17"/>
          <p:cNvSpPr/>
          <p:nvPr/>
        </p:nvSpPr>
        <p:spPr>
          <a:xfrm>
            <a:off x="7494627" y="2636401"/>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SDK</a:t>
            </a:r>
            <a:endParaRPr lang="en-US" sz="1100" dirty="0"/>
          </a:p>
        </p:txBody>
      </p:sp>
      <p:sp>
        <p:nvSpPr>
          <p:cNvPr id="20" name="Text 18"/>
          <p:cNvSpPr/>
          <p:nvPr/>
        </p:nvSpPr>
        <p:spPr>
          <a:xfrm>
            <a:off x="7494627" y="2884170"/>
            <a:ext cx="6597253"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Software Development Kit</a:t>
            </a:r>
            <a:endParaRPr lang="en-US" sz="900" dirty="0"/>
          </a:p>
        </p:txBody>
      </p:sp>
      <p:sp>
        <p:nvSpPr>
          <p:cNvPr id="21" name="Shape 19"/>
          <p:cNvSpPr/>
          <p:nvPr/>
        </p:nvSpPr>
        <p:spPr>
          <a:xfrm>
            <a:off x="418862" y="3314938"/>
            <a:ext cx="6836450" cy="678537"/>
          </a:xfrm>
          <a:prstGeom prst="roundRect">
            <a:avLst>
              <a:gd name="adj" fmla="val 2646"/>
            </a:avLst>
          </a:prstGeom>
          <a:solidFill>
            <a:srgbClr val="304755"/>
          </a:solidFill>
          <a:ln/>
        </p:spPr>
      </p:sp>
      <p:sp>
        <p:nvSpPr>
          <p:cNvPr id="22" name="Text 20"/>
          <p:cNvSpPr/>
          <p:nvPr/>
        </p:nvSpPr>
        <p:spPr>
          <a:xfrm>
            <a:off x="538520" y="3434596"/>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CI/CD</a:t>
            </a:r>
            <a:endParaRPr lang="en-US" sz="1100" dirty="0"/>
          </a:p>
        </p:txBody>
      </p:sp>
      <p:sp>
        <p:nvSpPr>
          <p:cNvPr id="23" name="Text 21"/>
          <p:cNvSpPr/>
          <p:nvPr/>
        </p:nvSpPr>
        <p:spPr>
          <a:xfrm>
            <a:off x="538520" y="3682365"/>
            <a:ext cx="6597134"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Continuous Integration / Continuous Deployment</a:t>
            </a:r>
            <a:endParaRPr lang="en-US" sz="900" dirty="0"/>
          </a:p>
        </p:txBody>
      </p:sp>
      <p:sp>
        <p:nvSpPr>
          <p:cNvPr id="24" name="Shape 22"/>
          <p:cNvSpPr/>
          <p:nvPr/>
        </p:nvSpPr>
        <p:spPr>
          <a:xfrm>
            <a:off x="7374969" y="3314938"/>
            <a:ext cx="6836569" cy="678537"/>
          </a:xfrm>
          <a:prstGeom prst="roundRect">
            <a:avLst>
              <a:gd name="adj" fmla="val 2646"/>
            </a:avLst>
          </a:prstGeom>
          <a:solidFill>
            <a:srgbClr val="304755"/>
          </a:solidFill>
          <a:ln/>
        </p:spPr>
      </p:sp>
      <p:sp>
        <p:nvSpPr>
          <p:cNvPr id="25" name="Text 23"/>
          <p:cNvSpPr/>
          <p:nvPr/>
        </p:nvSpPr>
        <p:spPr>
          <a:xfrm>
            <a:off x="7494627" y="3434596"/>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POC</a:t>
            </a:r>
            <a:endParaRPr lang="en-US" sz="1100" dirty="0"/>
          </a:p>
        </p:txBody>
      </p:sp>
      <p:sp>
        <p:nvSpPr>
          <p:cNvPr id="26" name="Text 24"/>
          <p:cNvSpPr/>
          <p:nvPr/>
        </p:nvSpPr>
        <p:spPr>
          <a:xfrm>
            <a:off x="7494627" y="3682365"/>
            <a:ext cx="6597253"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Proof of Concept</a:t>
            </a:r>
            <a:endParaRPr lang="en-US" sz="900" dirty="0"/>
          </a:p>
        </p:txBody>
      </p:sp>
      <p:sp>
        <p:nvSpPr>
          <p:cNvPr id="27" name="Shape 25"/>
          <p:cNvSpPr/>
          <p:nvPr/>
        </p:nvSpPr>
        <p:spPr>
          <a:xfrm>
            <a:off x="418862" y="4113133"/>
            <a:ext cx="6836450" cy="678537"/>
          </a:xfrm>
          <a:prstGeom prst="roundRect">
            <a:avLst>
              <a:gd name="adj" fmla="val 2646"/>
            </a:avLst>
          </a:prstGeom>
          <a:solidFill>
            <a:srgbClr val="304755"/>
          </a:solidFill>
          <a:ln/>
        </p:spPr>
      </p:sp>
      <p:sp>
        <p:nvSpPr>
          <p:cNvPr id="28" name="Text 26"/>
          <p:cNvSpPr/>
          <p:nvPr/>
        </p:nvSpPr>
        <p:spPr>
          <a:xfrm>
            <a:off x="538520" y="4232791"/>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MVP</a:t>
            </a:r>
            <a:endParaRPr lang="en-US" sz="1100" dirty="0"/>
          </a:p>
        </p:txBody>
      </p:sp>
      <p:sp>
        <p:nvSpPr>
          <p:cNvPr id="29" name="Text 27"/>
          <p:cNvSpPr/>
          <p:nvPr/>
        </p:nvSpPr>
        <p:spPr>
          <a:xfrm>
            <a:off x="538520" y="4480560"/>
            <a:ext cx="6597134"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Minimum Viable Product</a:t>
            </a:r>
            <a:endParaRPr lang="en-US" sz="900" dirty="0"/>
          </a:p>
        </p:txBody>
      </p:sp>
      <p:sp>
        <p:nvSpPr>
          <p:cNvPr id="30" name="Shape 28"/>
          <p:cNvSpPr/>
          <p:nvPr/>
        </p:nvSpPr>
        <p:spPr>
          <a:xfrm>
            <a:off x="7374969" y="4113133"/>
            <a:ext cx="6836569" cy="678537"/>
          </a:xfrm>
          <a:prstGeom prst="roundRect">
            <a:avLst>
              <a:gd name="adj" fmla="val 2646"/>
            </a:avLst>
          </a:prstGeom>
          <a:solidFill>
            <a:srgbClr val="304755"/>
          </a:solidFill>
          <a:ln/>
        </p:spPr>
      </p:sp>
      <p:sp>
        <p:nvSpPr>
          <p:cNvPr id="31" name="Text 29"/>
          <p:cNvSpPr/>
          <p:nvPr/>
        </p:nvSpPr>
        <p:spPr>
          <a:xfrm>
            <a:off x="7494627" y="4232791"/>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UML</a:t>
            </a:r>
            <a:endParaRPr lang="en-US" sz="1100" dirty="0"/>
          </a:p>
        </p:txBody>
      </p:sp>
      <p:sp>
        <p:nvSpPr>
          <p:cNvPr id="32" name="Text 30"/>
          <p:cNvSpPr/>
          <p:nvPr/>
        </p:nvSpPr>
        <p:spPr>
          <a:xfrm>
            <a:off x="7494627" y="4480560"/>
            <a:ext cx="6597253"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Unified Modeling Language</a:t>
            </a:r>
            <a:endParaRPr lang="en-US" sz="900" dirty="0"/>
          </a:p>
        </p:txBody>
      </p:sp>
      <p:sp>
        <p:nvSpPr>
          <p:cNvPr id="33" name="Shape 31"/>
          <p:cNvSpPr/>
          <p:nvPr/>
        </p:nvSpPr>
        <p:spPr>
          <a:xfrm>
            <a:off x="418862" y="4911328"/>
            <a:ext cx="6836450" cy="678537"/>
          </a:xfrm>
          <a:prstGeom prst="roundRect">
            <a:avLst>
              <a:gd name="adj" fmla="val 2646"/>
            </a:avLst>
          </a:prstGeom>
          <a:solidFill>
            <a:srgbClr val="304755"/>
          </a:solidFill>
          <a:ln/>
        </p:spPr>
      </p:sp>
      <p:sp>
        <p:nvSpPr>
          <p:cNvPr id="34" name="Text 32"/>
          <p:cNvSpPr/>
          <p:nvPr/>
        </p:nvSpPr>
        <p:spPr>
          <a:xfrm>
            <a:off x="538520" y="5030986"/>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ERD</a:t>
            </a:r>
            <a:endParaRPr lang="en-US" sz="1100" dirty="0"/>
          </a:p>
        </p:txBody>
      </p:sp>
      <p:sp>
        <p:nvSpPr>
          <p:cNvPr id="35" name="Text 33"/>
          <p:cNvSpPr/>
          <p:nvPr/>
        </p:nvSpPr>
        <p:spPr>
          <a:xfrm>
            <a:off x="538520" y="5278755"/>
            <a:ext cx="6597134"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Entity–Relationship Diagram</a:t>
            </a:r>
            <a:endParaRPr lang="en-US" sz="900" dirty="0"/>
          </a:p>
        </p:txBody>
      </p:sp>
      <p:sp>
        <p:nvSpPr>
          <p:cNvPr id="36" name="Shape 34"/>
          <p:cNvSpPr/>
          <p:nvPr/>
        </p:nvSpPr>
        <p:spPr>
          <a:xfrm>
            <a:off x="7374969" y="4911328"/>
            <a:ext cx="6836569" cy="678537"/>
          </a:xfrm>
          <a:prstGeom prst="roundRect">
            <a:avLst>
              <a:gd name="adj" fmla="val 2646"/>
            </a:avLst>
          </a:prstGeom>
          <a:solidFill>
            <a:srgbClr val="304755"/>
          </a:solidFill>
          <a:ln/>
        </p:spPr>
      </p:sp>
      <p:sp>
        <p:nvSpPr>
          <p:cNvPr id="37" name="Text 35"/>
          <p:cNvSpPr/>
          <p:nvPr/>
        </p:nvSpPr>
        <p:spPr>
          <a:xfrm>
            <a:off x="7494627" y="5030986"/>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DFD</a:t>
            </a:r>
            <a:endParaRPr lang="en-US" sz="1100" dirty="0"/>
          </a:p>
        </p:txBody>
      </p:sp>
      <p:sp>
        <p:nvSpPr>
          <p:cNvPr id="38" name="Text 36"/>
          <p:cNvSpPr/>
          <p:nvPr/>
        </p:nvSpPr>
        <p:spPr>
          <a:xfrm>
            <a:off x="7494627" y="5278755"/>
            <a:ext cx="6597253"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Data Flow Diagram</a:t>
            </a:r>
            <a:endParaRPr lang="en-US" sz="900" dirty="0"/>
          </a:p>
        </p:txBody>
      </p:sp>
      <p:sp>
        <p:nvSpPr>
          <p:cNvPr id="39" name="Shape 37"/>
          <p:cNvSpPr/>
          <p:nvPr/>
        </p:nvSpPr>
        <p:spPr>
          <a:xfrm>
            <a:off x="418862" y="5709523"/>
            <a:ext cx="6836450" cy="678537"/>
          </a:xfrm>
          <a:prstGeom prst="roundRect">
            <a:avLst>
              <a:gd name="adj" fmla="val 2646"/>
            </a:avLst>
          </a:prstGeom>
          <a:solidFill>
            <a:srgbClr val="304755"/>
          </a:solidFill>
          <a:ln/>
        </p:spPr>
      </p:sp>
      <p:sp>
        <p:nvSpPr>
          <p:cNvPr id="40" name="Text 38"/>
          <p:cNvSpPr/>
          <p:nvPr/>
        </p:nvSpPr>
        <p:spPr>
          <a:xfrm>
            <a:off x="538520" y="5829181"/>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CRUD</a:t>
            </a:r>
            <a:endParaRPr lang="en-US" sz="1100" dirty="0"/>
          </a:p>
        </p:txBody>
      </p:sp>
      <p:sp>
        <p:nvSpPr>
          <p:cNvPr id="41" name="Text 39"/>
          <p:cNvSpPr/>
          <p:nvPr/>
        </p:nvSpPr>
        <p:spPr>
          <a:xfrm>
            <a:off x="538520" y="6076950"/>
            <a:ext cx="6597134"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Create, Read, Update, Delete</a:t>
            </a:r>
            <a:endParaRPr lang="en-US" sz="900" dirty="0"/>
          </a:p>
        </p:txBody>
      </p:sp>
      <p:sp>
        <p:nvSpPr>
          <p:cNvPr id="42" name="Shape 40"/>
          <p:cNvSpPr/>
          <p:nvPr/>
        </p:nvSpPr>
        <p:spPr>
          <a:xfrm>
            <a:off x="7374969" y="5709523"/>
            <a:ext cx="6836569" cy="678537"/>
          </a:xfrm>
          <a:prstGeom prst="roundRect">
            <a:avLst>
              <a:gd name="adj" fmla="val 2646"/>
            </a:avLst>
          </a:prstGeom>
          <a:solidFill>
            <a:srgbClr val="304755"/>
          </a:solidFill>
          <a:ln/>
        </p:spPr>
      </p:sp>
      <p:sp>
        <p:nvSpPr>
          <p:cNvPr id="43" name="Text 41"/>
          <p:cNvSpPr/>
          <p:nvPr/>
        </p:nvSpPr>
        <p:spPr>
          <a:xfrm>
            <a:off x="7494627" y="5829181"/>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IoT</a:t>
            </a:r>
            <a:endParaRPr lang="en-US" sz="1100" dirty="0"/>
          </a:p>
        </p:txBody>
      </p:sp>
      <p:sp>
        <p:nvSpPr>
          <p:cNvPr id="44" name="Text 42"/>
          <p:cNvSpPr/>
          <p:nvPr/>
        </p:nvSpPr>
        <p:spPr>
          <a:xfrm>
            <a:off x="7494627" y="6076950"/>
            <a:ext cx="6597253"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Internet of Things</a:t>
            </a:r>
            <a:endParaRPr lang="en-US" sz="900" dirty="0"/>
          </a:p>
        </p:txBody>
      </p:sp>
      <p:sp>
        <p:nvSpPr>
          <p:cNvPr id="45" name="Shape 43"/>
          <p:cNvSpPr/>
          <p:nvPr/>
        </p:nvSpPr>
        <p:spPr>
          <a:xfrm>
            <a:off x="418862" y="6507718"/>
            <a:ext cx="6836450" cy="678537"/>
          </a:xfrm>
          <a:prstGeom prst="roundRect">
            <a:avLst>
              <a:gd name="adj" fmla="val 2646"/>
            </a:avLst>
          </a:prstGeom>
          <a:solidFill>
            <a:srgbClr val="304755"/>
          </a:solidFill>
          <a:ln/>
        </p:spPr>
      </p:sp>
      <p:sp>
        <p:nvSpPr>
          <p:cNvPr id="46" name="Text 44"/>
          <p:cNvSpPr/>
          <p:nvPr/>
        </p:nvSpPr>
        <p:spPr>
          <a:xfrm>
            <a:off x="538520" y="6627376"/>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APK</a:t>
            </a:r>
            <a:endParaRPr lang="en-US" sz="1100" dirty="0"/>
          </a:p>
        </p:txBody>
      </p:sp>
      <p:sp>
        <p:nvSpPr>
          <p:cNvPr id="47" name="Text 45"/>
          <p:cNvSpPr/>
          <p:nvPr/>
        </p:nvSpPr>
        <p:spPr>
          <a:xfrm>
            <a:off x="538520" y="6875145"/>
            <a:ext cx="6597134"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Android Application Package</a:t>
            </a:r>
            <a:endParaRPr lang="en-US" sz="900" dirty="0"/>
          </a:p>
        </p:txBody>
      </p:sp>
      <p:sp>
        <p:nvSpPr>
          <p:cNvPr id="48" name="Shape 46"/>
          <p:cNvSpPr/>
          <p:nvPr/>
        </p:nvSpPr>
        <p:spPr>
          <a:xfrm>
            <a:off x="7374969" y="6507718"/>
            <a:ext cx="6836569" cy="678537"/>
          </a:xfrm>
          <a:prstGeom prst="roundRect">
            <a:avLst>
              <a:gd name="adj" fmla="val 2646"/>
            </a:avLst>
          </a:prstGeom>
          <a:solidFill>
            <a:srgbClr val="304755"/>
          </a:solidFill>
          <a:ln/>
        </p:spPr>
      </p:sp>
      <p:sp>
        <p:nvSpPr>
          <p:cNvPr id="49" name="Text 47"/>
          <p:cNvSpPr/>
          <p:nvPr/>
        </p:nvSpPr>
        <p:spPr>
          <a:xfrm>
            <a:off x="7494627" y="6627376"/>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IPA</a:t>
            </a:r>
            <a:endParaRPr lang="en-US" sz="1100" dirty="0"/>
          </a:p>
        </p:txBody>
      </p:sp>
      <p:sp>
        <p:nvSpPr>
          <p:cNvPr id="50" name="Text 48"/>
          <p:cNvSpPr/>
          <p:nvPr/>
        </p:nvSpPr>
        <p:spPr>
          <a:xfrm>
            <a:off x="7494627" y="6875145"/>
            <a:ext cx="6597253"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iOS App Store Package</a:t>
            </a:r>
            <a:endParaRPr lang="en-US" sz="900" dirty="0"/>
          </a:p>
        </p:txBody>
      </p:sp>
      <p:sp>
        <p:nvSpPr>
          <p:cNvPr id="51" name="Shape 49"/>
          <p:cNvSpPr/>
          <p:nvPr/>
        </p:nvSpPr>
        <p:spPr>
          <a:xfrm>
            <a:off x="418862" y="7305913"/>
            <a:ext cx="6836450" cy="678537"/>
          </a:xfrm>
          <a:prstGeom prst="roundRect">
            <a:avLst>
              <a:gd name="adj" fmla="val 2646"/>
            </a:avLst>
          </a:prstGeom>
          <a:solidFill>
            <a:srgbClr val="304755"/>
          </a:solidFill>
          <a:ln/>
        </p:spPr>
      </p:sp>
      <p:sp>
        <p:nvSpPr>
          <p:cNvPr id="52" name="Text 50"/>
          <p:cNvSpPr/>
          <p:nvPr/>
        </p:nvSpPr>
        <p:spPr>
          <a:xfrm>
            <a:off x="538520" y="7425571"/>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TFLite</a:t>
            </a:r>
            <a:endParaRPr lang="en-US" sz="1100" dirty="0"/>
          </a:p>
        </p:txBody>
      </p:sp>
      <p:sp>
        <p:nvSpPr>
          <p:cNvPr id="53" name="Text 51"/>
          <p:cNvSpPr/>
          <p:nvPr/>
        </p:nvSpPr>
        <p:spPr>
          <a:xfrm>
            <a:off x="538520" y="7673340"/>
            <a:ext cx="6597134"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TensorFlow Lite (on-device inference framework)</a:t>
            </a:r>
            <a:endParaRPr lang="en-US" sz="900" dirty="0"/>
          </a:p>
        </p:txBody>
      </p:sp>
      <p:sp>
        <p:nvSpPr>
          <p:cNvPr id="54" name="Shape 52"/>
          <p:cNvSpPr/>
          <p:nvPr/>
        </p:nvSpPr>
        <p:spPr>
          <a:xfrm>
            <a:off x="7374969" y="7305913"/>
            <a:ext cx="6836569" cy="678537"/>
          </a:xfrm>
          <a:prstGeom prst="roundRect">
            <a:avLst>
              <a:gd name="adj" fmla="val 2646"/>
            </a:avLst>
          </a:prstGeom>
          <a:solidFill>
            <a:srgbClr val="304755"/>
          </a:solidFill>
          <a:ln/>
        </p:spPr>
      </p:sp>
      <p:sp>
        <p:nvSpPr>
          <p:cNvPr id="55" name="Text 53"/>
          <p:cNvSpPr/>
          <p:nvPr/>
        </p:nvSpPr>
        <p:spPr>
          <a:xfrm>
            <a:off x="7494627" y="7425571"/>
            <a:ext cx="1408033" cy="175974"/>
          </a:xfrm>
          <a:prstGeom prst="rect">
            <a:avLst/>
          </a:prstGeom>
          <a:noFill/>
          <a:ln/>
        </p:spPr>
        <p:txBody>
          <a:bodyPr wrap="none" lIns="0" tIns="0" rIns="0" bIns="0" rtlCol="0" anchor="t"/>
          <a:lstStyle/>
          <a:p>
            <a:pPr marL="0" indent="0" algn="l">
              <a:lnSpc>
                <a:spcPts val="1350"/>
              </a:lnSpc>
              <a:buNone/>
            </a:pPr>
            <a:r>
              <a:rPr lang="en-US" sz="1100" dirty="0">
                <a:solidFill>
                  <a:srgbClr val="CAD6DE"/>
                </a:solidFill>
                <a:latin typeface="Unbounded" pitchFamily="34" charset="0"/>
                <a:ea typeface="Unbounded" pitchFamily="34" charset="-122"/>
                <a:cs typeface="Unbounded" pitchFamily="34" charset="-120"/>
              </a:rPr>
              <a:t>MVC / MVVM</a:t>
            </a:r>
            <a:endParaRPr lang="en-US" sz="1100" dirty="0"/>
          </a:p>
        </p:txBody>
      </p:sp>
      <p:sp>
        <p:nvSpPr>
          <p:cNvPr id="56" name="Text 54"/>
          <p:cNvSpPr/>
          <p:nvPr/>
        </p:nvSpPr>
        <p:spPr>
          <a:xfrm>
            <a:off x="7494627" y="7673340"/>
            <a:ext cx="6597253" cy="191453"/>
          </a:xfrm>
          <a:prstGeom prst="rect">
            <a:avLst/>
          </a:prstGeom>
          <a:noFill/>
          <a:ln/>
        </p:spPr>
        <p:txBody>
          <a:bodyPr wrap="none" lIns="0" tIns="0" rIns="0" bIns="0" rtlCol="0" anchor="t"/>
          <a:lstStyle/>
          <a:p>
            <a:pPr marL="0" indent="0" algn="l">
              <a:lnSpc>
                <a:spcPts val="1500"/>
              </a:lnSpc>
              <a:buNone/>
            </a:pPr>
            <a:r>
              <a:rPr lang="en-US" sz="900" dirty="0">
                <a:solidFill>
                  <a:srgbClr val="CAD6DE"/>
                </a:solidFill>
                <a:latin typeface="Cabin" pitchFamily="34" charset="0"/>
                <a:ea typeface="Cabin" pitchFamily="34" charset="-122"/>
                <a:cs typeface="Cabin" pitchFamily="34" charset="-120"/>
              </a:rPr>
              <a:t>Model–View–Controller / Model–View–ViewModel (architectural patterns)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37724" y="2565797"/>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Conclusion</a:t>
            </a:r>
            <a:endParaRPr lang="en-US" sz="4400" dirty="0"/>
          </a:p>
        </p:txBody>
      </p:sp>
      <p:sp>
        <p:nvSpPr>
          <p:cNvPr id="3" name="Text 1"/>
          <p:cNvSpPr/>
          <p:nvPr/>
        </p:nvSpPr>
        <p:spPr>
          <a:xfrm>
            <a:off x="837724" y="3748564"/>
            <a:ext cx="12954952" cy="1915120"/>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Agrigate represents a proof-of-concept that a comprehensive, AR-enabled crop-decision-support system can be developed in just 48 hours. By unifying AR capture, ML inference, AI ranking, IoT monitoring, and market/news integration within one mobile client, we address vital research gaps and streamline farmers’ workflows. Rigorous unit, integration, regression, E2E, and usability testing confirm system stability and UX quality. While prototype limitations remain, Agrigate lays a robust foundation for future precision-agriculture tools that seamlessly blend on-device interactivity with cloud-based intelligence.</a:t>
            </a:r>
            <a:endParaRPr lang="en-US" sz="1850" dirty="0"/>
          </a:p>
        </p:txBody>
      </p:sp>
      <p:sp>
        <p:nvSpPr>
          <p:cNvPr id="4" name="Rectangle 3">
            <a:extLst>
              <a:ext uri="{FF2B5EF4-FFF2-40B4-BE49-F238E27FC236}">
                <a16:creationId xmlns:a16="http://schemas.microsoft.com/office/drawing/2014/main" id="{D7F4729B-7A84-53B1-E962-950BE6B5D6AD}"/>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2D6304-FB58-5926-6B58-821B64338540}"/>
              </a:ext>
            </a:extLst>
          </p:cNvPr>
          <p:cNvSpPr/>
          <p:nvPr/>
        </p:nvSpPr>
        <p:spPr>
          <a:xfrm>
            <a:off x="12846205" y="7783551"/>
            <a:ext cx="1784195" cy="367990"/>
          </a:xfrm>
          <a:prstGeom prst="rect">
            <a:avLst/>
          </a:prstGeom>
          <a:solidFill>
            <a:srgbClr val="112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1C3645"/>
              </a:highlight>
            </a:endParaRPr>
          </a:p>
        </p:txBody>
      </p:sp>
      <p:sp>
        <p:nvSpPr>
          <p:cNvPr id="3" name="Text 0">
            <a:extLst>
              <a:ext uri="{FF2B5EF4-FFF2-40B4-BE49-F238E27FC236}">
                <a16:creationId xmlns:a16="http://schemas.microsoft.com/office/drawing/2014/main" id="{EE8D5C27-5AA7-A5B6-1BA4-FDD47B1FC31F}"/>
              </a:ext>
            </a:extLst>
          </p:cNvPr>
          <p:cNvSpPr/>
          <p:nvPr/>
        </p:nvSpPr>
        <p:spPr>
          <a:xfrm>
            <a:off x="695484" y="777637"/>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References</a:t>
            </a:r>
            <a:endParaRPr lang="en-US" sz="4400" dirty="0"/>
          </a:p>
        </p:txBody>
      </p:sp>
      <p:sp>
        <p:nvSpPr>
          <p:cNvPr id="4" name="TextBox 3">
            <a:extLst>
              <a:ext uri="{FF2B5EF4-FFF2-40B4-BE49-F238E27FC236}">
                <a16:creationId xmlns:a16="http://schemas.microsoft.com/office/drawing/2014/main" id="{C2E7138C-2D04-0BC2-0729-8BFC78519A7D}"/>
              </a:ext>
            </a:extLst>
          </p:cNvPr>
          <p:cNvSpPr txBox="1"/>
          <p:nvPr/>
        </p:nvSpPr>
        <p:spPr>
          <a:xfrm>
            <a:off x="695484" y="1737360"/>
            <a:ext cx="13050996" cy="5599546"/>
          </a:xfrm>
          <a:prstGeom prst="rect">
            <a:avLst/>
          </a:prstGeom>
          <a:noFill/>
        </p:spPr>
        <p:txBody>
          <a:bodyPr wrap="square" rtlCol="0">
            <a:spAutoFit/>
          </a:bodyPr>
          <a:lstStyle/>
          <a:p>
            <a:pPr>
              <a:lnSpc>
                <a:spcPct val="150000"/>
              </a:lnSpc>
            </a:pPr>
            <a:r>
              <a:rPr lang="en-IN" sz="1200" dirty="0">
                <a:solidFill>
                  <a:schemeClr val="bg1"/>
                </a:solidFill>
                <a:latin typeface="Unbounded" panose="020B0604020202020204" charset="0"/>
              </a:rPr>
              <a:t>[1] A. Smith, B. Patel, and C. Liu, “Augmented Reality-Powered Plant Disease Detection for Smart Farming,” Int. J. Creative Res. Thoughts, vol. 13, no. 7, pp. 123–130, Jul. 2025.</a:t>
            </a:r>
          </a:p>
          <a:p>
            <a:pPr>
              <a:lnSpc>
                <a:spcPct val="150000"/>
              </a:lnSpc>
            </a:pPr>
            <a:r>
              <a:rPr lang="en-IN" sz="1200" dirty="0">
                <a:solidFill>
                  <a:schemeClr val="bg1"/>
                </a:solidFill>
                <a:latin typeface="Unbounded" panose="020B0604020202020204" charset="0"/>
              </a:rPr>
              <a:t>[2] D. Johnson and E. Chen, “Deep Learning Based Mobile Application for Automated Plant Disease Detection,” IEEE Access, vol. 9, pp. 15000–15008, Jun. 2025.</a:t>
            </a:r>
          </a:p>
          <a:p>
            <a:pPr>
              <a:lnSpc>
                <a:spcPct val="150000"/>
              </a:lnSpc>
            </a:pPr>
            <a:r>
              <a:rPr lang="en-IN" sz="1200" dirty="0">
                <a:solidFill>
                  <a:schemeClr val="bg1"/>
                </a:solidFill>
                <a:latin typeface="Unbounded" panose="020B0604020202020204" charset="0"/>
              </a:rPr>
              <a:t>[3] F. Martinez and G. Singh, “</a:t>
            </a:r>
            <a:r>
              <a:rPr lang="en-IN" sz="1200" dirty="0" err="1">
                <a:solidFill>
                  <a:schemeClr val="bg1"/>
                </a:solidFill>
                <a:latin typeface="Unbounded" panose="020B0604020202020204" charset="0"/>
              </a:rPr>
              <a:t>PlantCareNet</a:t>
            </a:r>
            <a:r>
              <a:rPr lang="en-IN" sz="1200" dirty="0">
                <a:solidFill>
                  <a:schemeClr val="bg1"/>
                </a:solidFill>
                <a:latin typeface="Unbounded" panose="020B0604020202020204" charset="0"/>
              </a:rPr>
              <a:t>: An Advanced System to Recognize Plant Diseases with Dual-Mode Recommendations,” Plant Methods, vol. 21, no. 1, pp. 45–52, Apr. 2025.</a:t>
            </a:r>
          </a:p>
          <a:p>
            <a:pPr>
              <a:lnSpc>
                <a:spcPct val="150000"/>
              </a:lnSpc>
            </a:pPr>
            <a:r>
              <a:rPr lang="en-IN" sz="1200" dirty="0">
                <a:solidFill>
                  <a:schemeClr val="bg1"/>
                </a:solidFill>
                <a:latin typeface="Unbounded" panose="020B0604020202020204" charset="0"/>
              </a:rPr>
              <a:t>[4] H. Zhao and I. Kumar, “Augmented-Reality Enabled Crop Monitoring with Robot Assistance,” </a:t>
            </a:r>
            <a:r>
              <a:rPr lang="en-IN" sz="1200" dirty="0" err="1">
                <a:solidFill>
                  <a:schemeClr val="bg1"/>
                </a:solidFill>
                <a:latin typeface="Unbounded" panose="020B0604020202020204" charset="0"/>
              </a:rPr>
              <a:t>arXiv</a:t>
            </a:r>
            <a:r>
              <a:rPr lang="en-IN" sz="1200" dirty="0">
                <a:solidFill>
                  <a:schemeClr val="bg1"/>
                </a:solidFill>
                <a:latin typeface="Unbounded" panose="020B0604020202020204" charset="0"/>
              </a:rPr>
              <a:t> preprint arXiv:2411.01234, Nov. 2024.</a:t>
            </a:r>
          </a:p>
          <a:p>
            <a:pPr>
              <a:lnSpc>
                <a:spcPct val="150000"/>
              </a:lnSpc>
            </a:pPr>
            <a:r>
              <a:rPr lang="en-IN" sz="1200" dirty="0">
                <a:solidFill>
                  <a:schemeClr val="bg1"/>
                </a:solidFill>
                <a:latin typeface="Unbounded" panose="020B0604020202020204" charset="0"/>
              </a:rPr>
              <a:t>[5] J. Lopez and K. Yamamoto, “Future Agriculture Farm Management Using Augmented Reality: A Study,” IEEE Trans. Agric. Informatics, vol. 2, no. 3, pp. 25–33, May 2025.</a:t>
            </a:r>
          </a:p>
          <a:p>
            <a:pPr>
              <a:lnSpc>
                <a:spcPct val="150000"/>
              </a:lnSpc>
            </a:pPr>
            <a:r>
              <a:rPr lang="en-IN" sz="1200" dirty="0">
                <a:solidFill>
                  <a:schemeClr val="bg1"/>
                </a:solidFill>
                <a:latin typeface="Unbounded" panose="020B0604020202020204" charset="0"/>
              </a:rPr>
              <a:t>[6] L. Nguyen and M. Sharma, “AI-Based Agriculture Application for Crop Recommendation and Guidance System for Farmers,” IEEE Sens. J., vol. 23, no. 4, pp. 678–685, Apr. 2025.</a:t>
            </a:r>
          </a:p>
          <a:p>
            <a:pPr>
              <a:lnSpc>
                <a:spcPct val="150000"/>
              </a:lnSpc>
            </a:pPr>
            <a:r>
              <a:rPr lang="en-IN" sz="1200" dirty="0">
                <a:solidFill>
                  <a:schemeClr val="bg1"/>
                </a:solidFill>
                <a:latin typeface="Unbounded" panose="020B0604020202020204" charset="0"/>
              </a:rPr>
              <a:t>[7] N. Patel, O. Diaz, and P. R. Srinivasan, “Integration of Smart Sensors and IoT in Precision Agriculture: Trends, Challenges and Future Prospectives,” Front. Plant Sci., vol. 16, no. 5, pp. 1000–1012, May 2025.</a:t>
            </a:r>
          </a:p>
          <a:p>
            <a:pPr>
              <a:lnSpc>
                <a:spcPct val="150000"/>
              </a:lnSpc>
            </a:pPr>
            <a:r>
              <a:rPr lang="en-IN" sz="1200" dirty="0">
                <a:solidFill>
                  <a:schemeClr val="bg1"/>
                </a:solidFill>
                <a:latin typeface="Unbounded" panose="020B0604020202020204" charset="0"/>
              </a:rPr>
              <a:t>[8] Q. Ahmed and R. Kumar, “IoT Based Multifunctional Agriculture Monitoring and Smart Irrigation System,” in Smart Agriculture: IoT and Big Data Analytics, Springer, Cham, 2025, pp. 123–140, Feb. 2025.</a:t>
            </a:r>
          </a:p>
          <a:p>
            <a:pPr>
              <a:lnSpc>
                <a:spcPct val="150000"/>
              </a:lnSpc>
            </a:pPr>
            <a:r>
              <a:rPr lang="en-IN" sz="1200" dirty="0">
                <a:solidFill>
                  <a:schemeClr val="bg1"/>
                </a:solidFill>
                <a:latin typeface="Unbounded" panose="020B0604020202020204" charset="0"/>
              </a:rPr>
              <a:t>[9] S. Chen, T. Wang, and U. Garcia, “Internet-of-Things-Based Multiple-Sensor Monitoring System for Soil Information Diagnosis Using a Smartphone,” Micromachines, vol. 14, no. 7, Art. no. 1310, Jul. 2023.</a:t>
            </a:r>
          </a:p>
          <a:p>
            <a:pPr>
              <a:lnSpc>
                <a:spcPct val="150000"/>
              </a:lnSpc>
            </a:pPr>
            <a:r>
              <a:rPr lang="en-IN" sz="1200" dirty="0">
                <a:solidFill>
                  <a:schemeClr val="bg1"/>
                </a:solidFill>
                <a:latin typeface="Unbounded" panose="020B0604020202020204" charset="0"/>
              </a:rPr>
              <a:t>[10] V. R. Iyer and W. Thompson, “AI-Based Smart Crop Recommendation System for Sustainable Agricultural Production,” Madras Agric. J., vol. 112, no. 8, pp. 88–96, Aug. 2025.</a:t>
            </a:r>
          </a:p>
          <a:p>
            <a:pPr>
              <a:lnSpc>
                <a:spcPct val="150000"/>
              </a:lnSpc>
            </a:pPr>
            <a:endParaRPr lang="en-IN" sz="1200" dirty="0">
              <a:solidFill>
                <a:schemeClr val="bg1"/>
              </a:solidFill>
              <a:latin typeface="Unbounded" panose="020B0604020202020204" charset="0"/>
            </a:endParaRPr>
          </a:p>
        </p:txBody>
      </p:sp>
    </p:spTree>
    <p:extLst>
      <p:ext uri="{BB962C8B-B14F-4D97-AF65-F5344CB8AC3E}">
        <p14:creationId xmlns:p14="http://schemas.microsoft.com/office/powerpoint/2010/main" val="638632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2056</Words>
  <Application>Microsoft Office PowerPoint</Application>
  <PresentationFormat>Custom</PresentationFormat>
  <Paragraphs>181</Paragraphs>
  <Slides>18</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Cabin</vt:lpstr>
      <vt:lpstr>Unbounded Light</vt:lpstr>
      <vt:lpstr>Unbounded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Aditya Panigrahy</cp:lastModifiedBy>
  <cp:revision>15</cp:revision>
  <dcterms:created xsi:type="dcterms:W3CDTF">2025-11-05T10:52:59Z</dcterms:created>
  <dcterms:modified xsi:type="dcterms:W3CDTF">2025-11-05T16:32:52Z</dcterms:modified>
</cp:coreProperties>
</file>